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77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1.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 Run parameters ===
region_analysis              = 'Japan'
esg_choice                   = 's&amp;p'
no_simple_quantiles          = 4
add_accounting_data          = True
show_sector_portfolio        = False
start_year                   = 2014
end_year                     = 2022
top_x_by_industry_even_split = 6
use_alpha_bound              = True
alpha_bound                  = 0.1
mktcap_covered               = 0.95
drop_real_estate             = True
fama_factor_region           = 'Japan'
currency_filter              = ['JPY']
convert_to_USD               = False
golden_data                  = 'v_2B1'
======================
</a:t>
            </a:r>
          </a:p>
          <a:p>
            <a:pPr marL="0" lvl="0" indent="0">
              <a:buNone/>
            </a:pPr>
            <a:r>
              <a:t>Signal Design</a:t>
            </a:r>
          </a:p>
          <a:p>
            <a:pPr marL="0" lvl="0" indent="0">
              <a:buNone/>
            </a:pPr>
            <a:r>
              <a:t>Signal Choice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 Data</a:t>
            </a:r>
          </a:p>
          <a:p>
            <a:pPr marL="0" lvl="0" indent="0">
              <a:buNone/>
            </a:pPr>
            <a:r>
              <a:t>Golden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2.1 LC dataset</a:t>
            </a:r>
          </a:p>
          <a:p>
            <a:pPr marL="0" lvl="0" indent="0">
              <a:buNone/>
            </a:pPr>
            <a:r>
              <a:t>clean below</a:t>
            </a:r>
          </a:p>
          <a:p>
            <a:pPr marL="0" lvl="0" indent="0">
              <a:buNone/>
            </a:pPr>
            <a:r>
              <a:t>Create the signal</a:t>
            </a:r>
          </a:p>
          <a:p>
            <a:pPr marL="0" lvl="0" indent="0">
              <a:buNone/>
            </a:pPr>
            <a:r>
              <a:t>Num stocks in USA and EU prior to some more filters</a:t>
            </a:r>
          </a:p>
          <a:p>
            <a:pPr lvl="0" indent="0">
              <a:buNone/>
            </a:pPr>
            <a:r>
              <a:rPr>
                <a:latin typeface="Courier"/>
              </a:rPr>
              <a:t>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2.2 WRDS, Fama-French and FX data</a:t>
            </a:r>
          </a:p>
          <a:p>
            <a:pPr marL="0" lvl="0" indent="0">
              <a:buNone/>
            </a:pPr>
            <a:r>
              <a:t>Get and Process: 1- FX data</a:t>
            </a:r>
          </a:p>
          <a:p>
            <a:pPr marL="0" lvl="0" indent="0">
              <a:buNone/>
            </a:pPr>
            <a:r>
              <a:t>2- USA Universe</a:t>
            </a:r>
          </a:p>
          <a:p>
            <a:pPr marL="0" lvl="0" indent="0">
              <a:buNone/>
            </a:pPr>
            <a:r>
              <a:t>3- ROW Universe</a:t>
            </a:r>
          </a:p>
          <a:p>
            <a:pPr marL="0" lvl="0" indent="0">
              <a:buNone/>
            </a:pPr>
            <a:r>
              <a:t>4 - Japan</a:t>
            </a:r>
          </a:p>
          <a:p>
            <a:pPr marL="0" lvl="0" indent="0">
              <a:buNone/>
            </a:pPr>
            <a:r>
              <a:t>5 - ESG</a:t>
            </a:r>
          </a:p>
          <a:p>
            <a:pPr marL="0" lvl="0" indent="0">
              <a:buNone/>
            </a:pPr>
            <a:r>
              <a:t>4- Fama-French</a:t>
            </a:r>
          </a:p>
          <a:p>
            <a:pPr marL="0" lvl="0" indent="0">
              <a:buNone/>
            </a:pPr>
            <a:r>
              <a:t>5- Global Universe</a:t>
            </a:r>
          </a:p>
          <a:p>
            <a:pPr marL="0" lvl="0" indent="0">
              <a:buNone/>
            </a:pPr>
            <a:r>
              <a:t>6- Accounting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columns with year
['year_x', 'year_y', 'year']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3. Univariate Portfolio sorting</a:t>
            </a:r>
          </a:p>
          <a:p>
            <a:pPr marL="0" lvl="0" indent="0">
              <a:buNone/>
            </a:pPr>
            <a:r>
              <a:t>% Nan in accounting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3.1 Univariate sorting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Sector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esg_sp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beta_mkt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Performance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Cumulative Returns Plot</a:t>
            </a:r>
          </a:p>
        </p:txBody>
      </p:sp>
      <p:pic>
        <p:nvPicPr>
          <p:cNvPr id="3" name="Picture 1" descr="Main_files/figure-pptx/cell-32-outpu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1202" y="1431235"/>
            <a:ext cx="8135598" cy="296296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Since launch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16.56%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38.33%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38.33%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-15.93%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-15.93%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-5.15%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20.54%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23.93%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17.74%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46.93%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46.93%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31.02%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17.09%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34.84%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34.84%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-9.36%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-10.61%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-25.56%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-26.98%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-30.33%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6600" y="1193800"/>
            <a:ext cx="767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marL="0" lvl="0" indent="0">
              <a:buNone/>
            </a:pPr>
            <a:r>
              <a:t>Uses </a:t>
            </a:r>
            <a:r>
              <a:rPr>
                <a:latin typeface="Courier"/>
              </a:rPr>
              <a:t>signal_2_simple_quantiles_constituents</a:t>
            </a:r>
            <a:r>
              <a:t> and </a:t>
            </a:r>
            <a:r>
              <a:rPr>
                <a:latin typeface="Courier"/>
              </a:rPr>
              <a:t>global_universe</a:t>
            </a:r>
            <a:r>
              <a:t> to inspect </a:t>
            </a:r>
            <a:r>
              <a:rPr b="1"/>
              <a:t>Industry</a:t>
            </a:r>
            <a:r>
              <a:t>, </a:t>
            </a:r>
            <a:r>
              <a:rPr b="1">
                <a:latin typeface="Courier"/>
              </a:rPr>
              <a:t>loc</a:t>
            </a:r>
            <a:r>
              <a:t>, and </a:t>
            </a:r>
            <a:r>
              <a:rPr b="1"/>
              <a:t>MacroRegion</a:t>
            </a:r>
            <a:r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t>, same as </a:t>
            </a:r>
            <a:r>
              <a:rPr>
                <a:latin typeface="Courier"/>
              </a:rPr>
              <a:t>constituents[i][-1]</a:t>
            </a:r>
            <a:r>
              <a:t>) and donut charts for the </a:t>
            </a:r>
            <a:r>
              <a:rPr b="1"/>
              <a:t>final</a:t>
            </a:r>
            <a:r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t> unions all </a:t>
            </a:r>
            <a:r>
              <a:rPr>
                <a:latin typeface="Courier"/>
              </a:rPr>
              <a:t>p_1</a:t>
            </a:r>
            <a:r>
              <a:t>…</a:t>
            </a:r>
            <a:r>
              <a:rPr>
                <a:latin typeface="Courier"/>
              </a:rPr>
              <a:t>p_k</a:t>
            </a:r>
            <a:r>
              <a:t>; </a:t>
            </a:r>
            <a:r>
              <a:rPr>
                <a:latin typeface="Courier"/>
              </a:rPr>
              <a:t>all_sub_portfolios=True</a:t>
            </a:r>
            <a:r>
              <a:t> plots one subplot per quantile.</a:t>
            </a:r>
          </a:p>
          <a:p>
            <a:pPr marL="0" lvl="0" indent="0">
              <a:buNone/>
            </a:pPr>
            <a:r>
              <a:t>The following only inspects the high transformation</a:t>
            </a:r>
          </a:p>
        </p:txBody>
      </p:sp>
      <p:pic>
        <p:nvPicPr>
          <p:cNvPr id="3" name="Picture 1" descr="Main_files/figure-pptx/cell-33-outpu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6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1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1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1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Macintosh PowerPoint</Application>
  <PresentationFormat>On-screen Show (16:9)</PresentationFormat>
  <Paragraphs>178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</vt:lpstr>
      <vt:lpstr>Office Theme</vt:lpstr>
      <vt:lpstr>1. Dependencies</vt:lpstr>
      <vt:lpstr>1. Parameters</vt:lpstr>
      <vt:lpstr>4. Sector Split</vt:lpstr>
      <vt:lpstr>5. Fama-French</vt:lpstr>
      <vt:lpstr>6. Performance Metrics</vt:lpstr>
      <vt:lpstr>Cumulative Returns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Portfolio Constituents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cp:lastModifiedBy>Bruce, Christopher</cp:lastModifiedBy>
  <cp:revision>1</cp:revision>
  <dcterms:created xsi:type="dcterms:W3CDTF">2026-05-08T13:47:02Z</dcterms:created>
  <dcterms:modified xsi:type="dcterms:W3CDTF">2026-05-08T13:48:04Z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