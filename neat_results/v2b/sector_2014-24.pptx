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726" autoAdjust="0"/>
  </p:normalViewPr>
  <p:slideViewPr>
    <p:cSldViewPr snapToGrid="0" snapToObjects="1">
      <p:cViewPr varScale="1">
        <p:scale>
          <a:sx n="160" d="100"/>
          <a:sy n="160" d="100"/>
        </p:scale>
        <p:origin x="776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1. Dependencies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44777"/>
            <a:ext cx="8229600" cy="3394472"/>
          </a:xfrm>
        </p:spPr>
        <p:txBody>
          <a:bodyPr>
            <a:normAutofit fontScale="25000" lnSpcReduction="20000"/>
          </a:bodyPr>
          <a:lstStyle/>
          <a:p>
            <a:pPr lvl="0" indent="0">
              <a:buNone/>
            </a:pPr>
            <a:r>
              <a:rPr dirty="0">
                <a:latin typeface="Courier"/>
              </a:rPr>
              <a:t>
=== Run parameters ===
</a:t>
            </a:r>
            <a:r>
              <a:rPr dirty="0" err="1">
                <a:latin typeface="Courier"/>
              </a:rPr>
              <a:t>region_analysis</a:t>
            </a:r>
            <a:r>
              <a:rPr dirty="0">
                <a:latin typeface="Courier"/>
              </a:rPr>
              <a:t>              = 'Japan'
</a:t>
            </a:r>
            <a:r>
              <a:rPr dirty="0" err="1">
                <a:latin typeface="Courier"/>
              </a:rPr>
              <a:t>esg_choice</a:t>
            </a:r>
            <a:r>
              <a:rPr dirty="0">
                <a:latin typeface="Courier"/>
              </a:rPr>
              <a:t>                   = 'none'
</a:t>
            </a:r>
            <a:r>
              <a:rPr dirty="0" err="1">
                <a:latin typeface="Courier"/>
              </a:rPr>
              <a:t>no_simple_quantiles</a:t>
            </a:r>
            <a:r>
              <a:rPr dirty="0">
                <a:latin typeface="Courier"/>
              </a:rPr>
              <a:t>          = 6
</a:t>
            </a:r>
            <a:r>
              <a:rPr dirty="0" err="1">
                <a:latin typeface="Courier"/>
              </a:rPr>
              <a:t>add_accounting_data</a:t>
            </a:r>
            <a:r>
              <a:rPr dirty="0">
                <a:latin typeface="Courier"/>
              </a:rPr>
              <a:t>          = True
</a:t>
            </a:r>
            <a:r>
              <a:rPr dirty="0" err="1">
                <a:latin typeface="Courier"/>
              </a:rPr>
              <a:t>show_sector_portfolio</a:t>
            </a:r>
            <a:r>
              <a:rPr dirty="0">
                <a:latin typeface="Courier"/>
              </a:rPr>
              <a:t>        = True
</a:t>
            </a:r>
            <a:r>
              <a:rPr dirty="0" err="1">
                <a:latin typeface="Courier"/>
              </a:rPr>
              <a:t>start_year</a:t>
            </a:r>
            <a:r>
              <a:rPr dirty="0">
                <a:latin typeface="Courier"/>
              </a:rPr>
              <a:t>                   = 2014
</a:t>
            </a:r>
            <a:r>
              <a:rPr dirty="0" err="1">
                <a:latin typeface="Courier"/>
              </a:rPr>
              <a:t>end_year</a:t>
            </a:r>
            <a:r>
              <a:rPr dirty="0">
                <a:latin typeface="Courier"/>
              </a:rPr>
              <a:t>                     = 2024
</a:t>
            </a:r>
            <a:r>
              <a:rPr dirty="0" err="1">
                <a:latin typeface="Courier"/>
              </a:rPr>
              <a:t>top_x_by_industry_even_split</a:t>
            </a:r>
            <a:r>
              <a:rPr dirty="0">
                <a:latin typeface="Courier"/>
              </a:rPr>
              <a:t> = 6
</a:t>
            </a:r>
            <a:r>
              <a:rPr dirty="0" err="1">
                <a:latin typeface="Courier"/>
              </a:rPr>
              <a:t>use_alpha_bound</a:t>
            </a:r>
            <a:r>
              <a:rPr dirty="0">
                <a:latin typeface="Courier"/>
              </a:rPr>
              <a:t>              = True
</a:t>
            </a:r>
            <a:r>
              <a:rPr dirty="0" err="1">
                <a:latin typeface="Courier"/>
              </a:rPr>
              <a:t>alpha_bound</a:t>
            </a:r>
            <a:r>
              <a:rPr dirty="0">
                <a:latin typeface="Courier"/>
              </a:rPr>
              <a:t>                  = 0.1
</a:t>
            </a:r>
            <a:r>
              <a:rPr dirty="0" err="1">
                <a:latin typeface="Courier"/>
              </a:rPr>
              <a:t>mktcap_covered</a:t>
            </a:r>
            <a:r>
              <a:rPr dirty="0">
                <a:latin typeface="Courier"/>
              </a:rPr>
              <a:t>               = 0.95
</a:t>
            </a:r>
            <a:r>
              <a:rPr dirty="0" err="1">
                <a:latin typeface="Courier"/>
              </a:rPr>
              <a:t>drop_real_estate</a:t>
            </a:r>
            <a:r>
              <a:rPr dirty="0">
                <a:latin typeface="Courier"/>
              </a:rPr>
              <a:t>             = True
</a:t>
            </a:r>
            <a:r>
              <a:rPr dirty="0" err="1">
                <a:latin typeface="Courier"/>
              </a:rPr>
              <a:t>fama_factor_region</a:t>
            </a:r>
            <a:r>
              <a:rPr dirty="0">
                <a:latin typeface="Courier"/>
              </a:rPr>
              <a:t>           = 'Japan'
</a:t>
            </a:r>
            <a:r>
              <a:rPr dirty="0" err="1">
                <a:latin typeface="Courier"/>
              </a:rPr>
              <a:t>currency_filter</a:t>
            </a:r>
            <a:r>
              <a:rPr dirty="0">
                <a:latin typeface="Courier"/>
              </a:rPr>
              <a:t>              = ['JPY']
</a:t>
            </a:r>
            <a:r>
              <a:rPr dirty="0" err="1">
                <a:latin typeface="Courier"/>
              </a:rPr>
              <a:t>convert_to_USD</a:t>
            </a:r>
            <a:r>
              <a:rPr dirty="0">
                <a:latin typeface="Courier"/>
              </a:rPr>
              <a:t>               = False
</a:t>
            </a:r>
            <a:r>
              <a:rPr dirty="0" err="1">
                <a:latin typeface="Courier"/>
              </a:rPr>
              <a:t>golden_data</a:t>
            </a:r>
            <a:r>
              <a:rPr dirty="0">
                <a:latin typeface="Courier"/>
              </a:rPr>
              <a:t>                  = 'v_2B1'
======================
</a:t>
            </a:r>
          </a:p>
          <a:p>
            <a:pPr marL="0" lvl="0" indent="0">
              <a:buNone/>
            </a:pPr>
            <a:r>
              <a:rPr dirty="0"/>
              <a:t>Signal Design</a:t>
            </a:r>
          </a:p>
          <a:p>
            <a:pPr marL="0" lvl="0" indent="0">
              <a:buNone/>
            </a:pPr>
            <a:r>
              <a:rPr dirty="0"/>
              <a:t>Signal Choice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 Data</a:t>
            </a:r>
          </a:p>
          <a:p>
            <a:pPr marL="0" lvl="0" indent="0">
              <a:buNone/>
            </a:pPr>
            <a:r>
              <a:rPr dirty="0"/>
              <a:t>Golden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2.1 LC dataset</a:t>
            </a:r>
          </a:p>
          <a:p>
            <a:pPr marL="0" lvl="0" indent="0">
              <a:buNone/>
            </a:pPr>
            <a:r>
              <a:rPr dirty="0"/>
              <a:t>clean below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count    28171.000000
mean        25.866778
std         29.869511
min          0.000000
25%          7.000000
50%         16.000000
75%         33.000000
max        465.000000
Name: </a:t>
            </a:r>
            <a:r>
              <a:rPr dirty="0" err="1">
                <a:latin typeface="Courier"/>
              </a:rPr>
              <a:t>sum_activities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dtype</a:t>
            </a:r>
            <a:r>
              <a:rPr dirty="0">
                <a:latin typeface="Courier"/>
              </a:rPr>
              <a:t>: float64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count    24968.000000
mean        22.175625
std         18.301051
min          3.000000
25%          8.000000
50%         16.000000
75%         31.000000
max        133.000000
Name: </a:t>
            </a:r>
            <a:r>
              <a:rPr dirty="0" err="1">
                <a:latin typeface="Courier"/>
              </a:rPr>
              <a:t>sum_activities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dtype</a:t>
            </a:r>
            <a:r>
              <a:rPr dirty="0">
                <a:latin typeface="Courier"/>
              </a:rPr>
              <a:t>: float64</a:t>
            </a:r>
          </a:p>
          <a:p>
            <a:pPr marL="0" lvl="0" indent="0">
              <a:buNone/>
            </a:pPr>
            <a:r>
              <a:rPr dirty="0"/>
              <a:t>Create the signal</a:t>
            </a:r>
          </a:p>
          <a:p>
            <a:pPr marL="0" lvl="0" indent="0">
              <a:buNone/>
            </a:pPr>
            <a:r>
              <a:rPr dirty="0"/>
              <a:t>Num stocks in USA and EU prior to some more filters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0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2.2 WRDS, Fama-French and FX data</a:t>
            </a:r>
          </a:p>
          <a:p>
            <a:pPr marL="0" lvl="0" indent="0">
              <a:buNone/>
            </a:pPr>
            <a:r>
              <a:rPr dirty="0"/>
              <a:t>Get and Process: 1- FX data</a:t>
            </a:r>
          </a:p>
          <a:p>
            <a:pPr marL="0" lvl="0" indent="0">
              <a:buNone/>
            </a:pPr>
            <a:r>
              <a:rPr dirty="0"/>
              <a:t>2- USA Universe</a:t>
            </a:r>
          </a:p>
          <a:p>
            <a:pPr marL="0" lvl="0" indent="0">
              <a:buNone/>
            </a:pPr>
            <a:r>
              <a:rPr dirty="0"/>
              <a:t>3- ROW Universe</a:t>
            </a:r>
          </a:p>
          <a:p>
            <a:pPr marL="0" lvl="0" indent="0">
              <a:buNone/>
            </a:pPr>
            <a:r>
              <a:rPr dirty="0"/>
              <a:t>4 - Japan</a:t>
            </a:r>
          </a:p>
          <a:p>
            <a:pPr marL="0" lvl="0" indent="0">
              <a:buNone/>
            </a:pPr>
            <a:r>
              <a:rPr dirty="0"/>
              <a:t>5 - ESG</a:t>
            </a:r>
          </a:p>
          <a:p>
            <a:pPr marL="0" lvl="0" indent="0">
              <a:buNone/>
            </a:pPr>
            <a:r>
              <a:rPr dirty="0"/>
              <a:t>4- Fama-French</a:t>
            </a:r>
          </a:p>
          <a:p>
            <a:pPr marL="0" lvl="0" indent="0">
              <a:buNone/>
            </a:pPr>
            <a:r>
              <a:rPr dirty="0"/>
              <a:t>5- Global Universe</a:t>
            </a:r>
          </a:p>
          <a:p>
            <a:pPr marL="0" lvl="0" indent="0">
              <a:buNone/>
            </a:pPr>
            <a:r>
              <a:rPr dirty="0"/>
              <a:t>6- Accounting Data</a:t>
            </a:r>
          </a:p>
          <a:p>
            <a:pPr lvl="0" indent="0">
              <a:buNone/>
            </a:pPr>
            <a:r>
              <a:rPr dirty="0">
                <a:latin typeface="Courier"/>
              </a:rPr>
              <a:t>columns with year
['year']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 Univariate Portfolio sorting</a:t>
            </a:r>
          </a:p>
          <a:p>
            <a:pPr marL="0" lvl="0" indent="0">
              <a:buNone/>
            </a:pPr>
            <a:r>
              <a:rPr dirty="0"/>
              <a:t>% Nan in accounting data</a:t>
            </a:r>
          </a:p>
          <a:p>
            <a:pPr marL="0" lvl="0" indent="0">
              <a:spcBef>
                <a:spcPts val="3000"/>
              </a:spcBef>
              <a:buNone/>
            </a:pPr>
            <a:r>
              <a:rPr b="1" dirty="0"/>
              <a:t>3.1 Univariate sorting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Sector Split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Fama-French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Low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Sector equal split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beta_mkt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beta_smb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beta_hml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Performance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Cumulative Returns Plot</a:t>
            </a:r>
          </a:p>
        </p:txBody>
      </p:sp>
      <p:pic>
        <p:nvPicPr>
          <p:cNvPr id="3" name="Picture 1" descr="Main_files/figure-pptx/cell-32-outpu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25600" y="1193800"/>
            <a:ext cx="5880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YTD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10yr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Since launch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3.05%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39.12%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58.66%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93.64%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93.64%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-4.99%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-3.58%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38.24%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38.24%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38.08%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52.99%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86.65%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86.65%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5.55%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38.06%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61.56%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108.06%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108.06%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39.68%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50.71%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74.71%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74.71%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Sector equal split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1.03%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13.68%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40.77%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46.93%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60.69%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Sharpe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 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Max Drawdown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p-value(alpha)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-11.28%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-26.95%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-9.21%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-29.34%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-25.41%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preparation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-27.09%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High advocacy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-23.44%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Sector equal split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-11.38%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-24.90%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36600" y="1193800"/>
            <a:ext cx="7670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2-output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85800" y="1193800"/>
            <a:ext cx="777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marL="0" lvl="0" indent="0">
              <a:buNone/>
            </a:pPr>
            <a:r>
              <a:t>7. Portfolio Constituents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Portfolio constituents — category mix (</a:t>
            </a:r>
            <a:r>
              <a:rPr b="1">
                <a:latin typeface="Courier"/>
              </a:rPr>
              <a:t>PortfolioConstituents</a:t>
            </a:r>
            <a:r>
              <a:rPr b="1"/>
              <a:t>)</a:t>
            </a:r>
          </a:p>
          <a:p>
            <a:pPr marL="0" lvl="0" indent="0">
              <a:buNone/>
            </a:pPr>
            <a:r>
              <a:t>Uses </a:t>
            </a:r>
            <a:r>
              <a:rPr>
                <a:latin typeface="Courier"/>
              </a:rPr>
              <a:t>signal_2_simple_quantiles_constituents</a:t>
            </a:r>
            <a:r>
              <a:t> and </a:t>
            </a:r>
            <a:r>
              <a:rPr>
                <a:latin typeface="Courier"/>
              </a:rPr>
              <a:t>global_universe</a:t>
            </a:r>
            <a:r>
              <a:t> to inspect </a:t>
            </a:r>
            <a:r>
              <a:rPr b="1"/>
              <a:t>Industry</a:t>
            </a:r>
            <a:r>
              <a:t>, </a:t>
            </a:r>
            <a:r>
              <a:rPr b="1">
                <a:latin typeface="Courier"/>
              </a:rPr>
              <a:t>loc</a:t>
            </a:r>
            <a:r>
              <a:t>, and </a:t>
            </a:r>
            <a:r>
              <a:rPr b="1"/>
              <a:t>MacroRegion</a:t>
            </a:r>
            <a:r>
              <a:t>: line charts of stock counts over time (default = last quantile </a:t>
            </a:r>
            <a:r>
              <a:rPr>
                <a:latin typeface="Courier"/>
              </a:rPr>
              <a:t>p_k</a:t>
            </a:r>
            <a:r>
              <a:t>, same as </a:t>
            </a:r>
            <a:r>
              <a:rPr>
                <a:latin typeface="Courier"/>
              </a:rPr>
              <a:t>constituents[i][-1]</a:t>
            </a:r>
            <a:r>
              <a:t>) and donut charts for the </a:t>
            </a:r>
            <a:r>
              <a:rPr b="1"/>
              <a:t>final</a:t>
            </a:r>
            <a:r>
              <a:t> formation month. Optional: </a:t>
            </a:r>
            <a:r>
              <a:rPr>
                <a:latin typeface="Courier"/>
              </a:rPr>
              <a:t>analyse_all_portfolios_at_once=True</a:t>
            </a:r>
            <a:r>
              <a:t> unions all </a:t>
            </a:r>
            <a:r>
              <a:rPr>
                <a:latin typeface="Courier"/>
              </a:rPr>
              <a:t>p_1</a:t>
            </a:r>
            <a:r>
              <a:t>…</a:t>
            </a:r>
            <a:r>
              <a:rPr>
                <a:latin typeface="Courier"/>
              </a:rPr>
              <a:t>p_k</a:t>
            </a:r>
            <a:r>
              <a:t>; </a:t>
            </a:r>
            <a:r>
              <a:rPr>
                <a:latin typeface="Courier"/>
              </a:rPr>
              <a:t>all_sub_portfolios=True</a:t>
            </a:r>
            <a:r>
              <a:t> plots one subplot per quantile.</a:t>
            </a:r>
          </a:p>
          <a:p>
            <a:pPr marL="0" lvl="0" indent="0">
              <a:buNone/>
            </a:pPr>
            <a:r>
              <a:t>The following only inspects the high transformation</a:t>
            </a:r>
          </a:p>
        </p:txBody>
      </p:sp>
      <p:pic>
        <p:nvPicPr>
          <p:cNvPr id="3" name="Picture 1" descr="Main_files/figure-pptx/cell-33-output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30300"/>
            <a:ext cx="51054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68600" y="1193800"/>
            <a:ext cx="359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4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5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6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7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55700" y="1193800"/>
            <a:ext cx="68326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8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81300" y="1193800"/>
            <a:ext cx="3594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9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1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33700" y="1193800"/>
            <a:ext cx="328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1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in_files/figure-pptx/cell-33-output-12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36700"/>
            <a:ext cx="8229600" cy="269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689</Words>
  <Application>Microsoft Macintosh PowerPoint</Application>
  <PresentationFormat>On-screen Show (16:9)</PresentationFormat>
  <Paragraphs>189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</vt:lpstr>
      <vt:lpstr>Office Theme</vt:lpstr>
      <vt:lpstr>1. Dependencies</vt:lpstr>
      <vt:lpstr>1. Parameters</vt:lpstr>
      <vt:lpstr>4. Sector Split</vt:lpstr>
      <vt:lpstr>5. Fama-French</vt:lpstr>
      <vt:lpstr>6. Performance Metrics</vt:lpstr>
      <vt:lpstr>Cumulative Returns Plot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7. Portfolio Constituents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Dependencies</dc:title>
  <dc:creator/>
  <cp:keywords/>
  <cp:lastModifiedBy>Bruce, Christopher</cp:lastModifiedBy>
  <cp:revision>1</cp:revision>
  <dcterms:created xsi:type="dcterms:W3CDTF">2026-05-08T13:32:11Z</dcterms:created>
  <dcterms:modified xsi:type="dcterms:W3CDTF">2026-05-08T13:41:11Z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ngines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toc-title">
    <vt:lpwstr>Table of contents</vt:lpwstr>
  </property>
</Properties>
</file>