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 autoAdjust="0"/>
    <p:restoredTop sz="94726" autoAdjust="0"/>
  </p:normalViewPr>
  <p:slideViewPr>
    <p:cSldViewPr snapToGrid="0" snapToObjects="1">
      <p:cViewPr varScale="1">
        <p:scale>
          <a:sx n="139" d="100"/>
          <a:sy n="139" d="100"/>
        </p:scale>
        <p:origin x="176" y="5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1.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Filters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002" y="269848"/>
            <a:ext cx="8229600" cy="3394472"/>
          </a:xfrm>
        </p:spPr>
        <p:txBody>
          <a:bodyPr>
            <a:normAutofit fontScale="250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
=== Run parameters ===
</a:t>
            </a:r>
            <a:r>
              <a:rPr dirty="0" err="1">
                <a:latin typeface="Courier"/>
              </a:rPr>
              <a:t>region_analysis</a:t>
            </a:r>
            <a:r>
              <a:rPr dirty="0">
                <a:latin typeface="Courier"/>
              </a:rPr>
              <a:t>              = 'Japan'
</a:t>
            </a:r>
            <a:r>
              <a:rPr dirty="0" err="1">
                <a:latin typeface="Courier"/>
              </a:rPr>
              <a:t>esg_choice</a:t>
            </a:r>
            <a:r>
              <a:rPr dirty="0">
                <a:latin typeface="Courier"/>
              </a:rPr>
              <a:t>                   = '</a:t>
            </a:r>
            <a:r>
              <a:rPr dirty="0" err="1">
                <a:latin typeface="Courier"/>
              </a:rPr>
              <a:t>refinitiv</a:t>
            </a:r>
            <a:r>
              <a:rPr dirty="0">
                <a:latin typeface="Courier"/>
              </a:rPr>
              <a:t>'
</a:t>
            </a:r>
            <a:r>
              <a:rPr dirty="0" err="1">
                <a:latin typeface="Courier"/>
              </a:rPr>
              <a:t>no_simple_quantiles</a:t>
            </a:r>
            <a:r>
              <a:rPr dirty="0">
                <a:latin typeface="Courier"/>
              </a:rPr>
              <a:t>          = 4
</a:t>
            </a:r>
            <a:r>
              <a:rPr dirty="0" err="1">
                <a:latin typeface="Courier"/>
              </a:rPr>
              <a:t>add_accounting_data</a:t>
            </a:r>
            <a:r>
              <a:rPr dirty="0">
                <a:latin typeface="Courier"/>
              </a:rPr>
              <a:t>          = True
</a:t>
            </a:r>
            <a:r>
              <a:rPr dirty="0" err="1">
                <a:latin typeface="Courier"/>
              </a:rPr>
              <a:t>show_sector_portfolio</a:t>
            </a:r>
            <a:r>
              <a:rPr dirty="0">
                <a:latin typeface="Courier"/>
              </a:rPr>
              <a:t>        = False
</a:t>
            </a:r>
            <a:r>
              <a:rPr dirty="0" err="1">
                <a:latin typeface="Courier"/>
              </a:rPr>
              <a:t>start_year</a:t>
            </a:r>
            <a:r>
              <a:rPr dirty="0">
                <a:latin typeface="Courier"/>
              </a:rPr>
              <a:t>                   = 2013
</a:t>
            </a:r>
            <a:r>
              <a:rPr dirty="0" err="1">
                <a:latin typeface="Courier"/>
              </a:rPr>
              <a:t>end_year</a:t>
            </a:r>
            <a:r>
              <a:rPr dirty="0">
                <a:latin typeface="Courier"/>
              </a:rPr>
              <a:t>                     = 2022
</a:t>
            </a:r>
            <a:r>
              <a:rPr dirty="0" err="1">
                <a:latin typeface="Courier"/>
              </a:rPr>
              <a:t>top_x_by_industry_even_split</a:t>
            </a:r>
            <a:r>
              <a:rPr dirty="0">
                <a:latin typeface="Courier"/>
              </a:rPr>
              <a:t> = 6
</a:t>
            </a:r>
            <a:r>
              <a:rPr dirty="0" err="1">
                <a:latin typeface="Courier"/>
              </a:rPr>
              <a:t>use_alpha_bound</a:t>
            </a:r>
            <a:r>
              <a:rPr dirty="0">
                <a:latin typeface="Courier"/>
              </a:rPr>
              <a:t>              = True
</a:t>
            </a:r>
            <a:r>
              <a:rPr dirty="0" err="1">
                <a:latin typeface="Courier"/>
              </a:rPr>
              <a:t>alpha_bound</a:t>
            </a:r>
            <a:r>
              <a:rPr dirty="0">
                <a:latin typeface="Courier"/>
              </a:rPr>
              <a:t>                  = 0.1
</a:t>
            </a:r>
            <a:r>
              <a:rPr dirty="0" err="1">
                <a:latin typeface="Courier"/>
              </a:rPr>
              <a:t>mktcap_covered</a:t>
            </a:r>
            <a:r>
              <a:rPr dirty="0">
                <a:latin typeface="Courier"/>
              </a:rPr>
              <a:t>               = 0.95
</a:t>
            </a:r>
            <a:r>
              <a:rPr dirty="0" err="1">
                <a:latin typeface="Courier"/>
              </a:rPr>
              <a:t>drop_real_estate</a:t>
            </a:r>
            <a:r>
              <a:rPr dirty="0">
                <a:latin typeface="Courier"/>
              </a:rPr>
              <a:t>             = True
</a:t>
            </a:r>
            <a:r>
              <a:rPr dirty="0" err="1">
                <a:latin typeface="Courier"/>
              </a:rPr>
              <a:t>fama_factor_region</a:t>
            </a:r>
            <a:r>
              <a:rPr dirty="0">
                <a:latin typeface="Courier"/>
              </a:rPr>
              <a:t>           = 'Japan'
</a:t>
            </a:r>
            <a:r>
              <a:rPr dirty="0" err="1">
                <a:latin typeface="Courier"/>
              </a:rPr>
              <a:t>currency_filter</a:t>
            </a:r>
            <a:r>
              <a:rPr dirty="0">
                <a:latin typeface="Courier"/>
              </a:rPr>
              <a:t>              = ['JPY']
</a:t>
            </a:r>
            <a:r>
              <a:rPr dirty="0" err="1">
                <a:latin typeface="Courier"/>
              </a:rPr>
              <a:t>convert_to_USD</a:t>
            </a:r>
            <a:r>
              <a:rPr dirty="0">
                <a:latin typeface="Courier"/>
              </a:rPr>
              <a:t>               = False
======================
</a:t>
            </a:r>
          </a:p>
          <a:p>
            <a:pPr marL="0" lvl="0" indent="0">
              <a:buNone/>
            </a:pPr>
            <a:r>
              <a:rPr dirty="0"/>
              <a:t>Signal Design</a:t>
            </a:r>
          </a:p>
          <a:p>
            <a:pPr marL="0" lvl="0" indent="0">
              <a:buNone/>
            </a:pPr>
            <a:r>
              <a:rPr dirty="0"/>
              <a:t>Signal Choice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 Data</a:t>
            </a:r>
          </a:p>
          <a:p>
            <a:pPr marL="0" lvl="0" indent="0">
              <a:buNone/>
            </a:pPr>
            <a:r>
              <a:rPr dirty="0"/>
              <a:t>Golden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2.1 LC dataset</a:t>
            </a:r>
          </a:p>
          <a:p>
            <a:pPr marL="0" lvl="0" indent="0">
              <a:buNone/>
            </a:pPr>
            <a:r>
              <a:rPr dirty="0"/>
              <a:t>clean below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count    19332.000000
mean        28.361318
std         30.302632
min          0.000000
25%          9.000000
50%         19.000000
75%         36.000000
max        465.000000
Name: </a:t>
            </a:r>
            <a:r>
              <a:rPr dirty="0" err="1">
                <a:latin typeface="Courier"/>
              </a:rPr>
              <a:t>sum_activities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dtype</a:t>
            </a:r>
            <a:r>
              <a:rPr dirty="0">
                <a:latin typeface="Courier"/>
              </a:rPr>
              <a:t>: float64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count    17035.000000
mean        24.953566
std         18.769500
min          4.000000
25%         11.000000
50%         19.000000
75%         34.000000
max        129.000000
Name: </a:t>
            </a:r>
            <a:r>
              <a:rPr dirty="0" err="1">
                <a:latin typeface="Courier"/>
              </a:rPr>
              <a:t>sum_activities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dtype</a:t>
            </a:r>
            <a:r>
              <a:rPr dirty="0">
                <a:latin typeface="Courier"/>
              </a:rPr>
              <a:t>: float64</a:t>
            </a:r>
          </a:p>
          <a:p>
            <a:pPr marL="0" lvl="0" indent="0">
              <a:buNone/>
            </a:pPr>
            <a:r>
              <a:rPr dirty="0"/>
              <a:t>Create the signal</a:t>
            </a:r>
          </a:p>
          <a:p>
            <a:pPr marL="0" lvl="0" indent="0">
              <a:buNone/>
            </a:pPr>
            <a:r>
              <a:rPr dirty="0"/>
              <a:t>Num stocks in USA and EU prior to some more filters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2.2 WRDS, Fama-French and FX data</a:t>
            </a:r>
          </a:p>
          <a:p>
            <a:pPr marL="0" lvl="0" indent="0">
              <a:buNone/>
            </a:pPr>
            <a:r>
              <a:rPr dirty="0"/>
              <a:t>Get and Process: 1- FX data</a:t>
            </a:r>
          </a:p>
          <a:p>
            <a:pPr marL="0" lvl="0" indent="0">
              <a:buNone/>
            </a:pPr>
            <a:r>
              <a:rPr dirty="0"/>
              <a:t>2- USA Universe</a:t>
            </a:r>
          </a:p>
          <a:p>
            <a:pPr marL="0" lvl="0" indent="0">
              <a:buNone/>
            </a:pPr>
            <a:r>
              <a:rPr dirty="0"/>
              <a:t>3- ROW Universe</a:t>
            </a:r>
          </a:p>
          <a:p>
            <a:pPr marL="0" lvl="0" indent="0">
              <a:buNone/>
            </a:pPr>
            <a:r>
              <a:rPr dirty="0"/>
              <a:t>4 - Japan</a:t>
            </a:r>
          </a:p>
          <a:p>
            <a:pPr marL="0" lvl="0" indent="0">
              <a:buNone/>
            </a:pPr>
            <a:r>
              <a:rPr dirty="0"/>
              <a:t>5 - ESG</a:t>
            </a:r>
          </a:p>
          <a:p>
            <a:pPr marL="0" lvl="0" indent="0">
              <a:buNone/>
            </a:pPr>
            <a:r>
              <a:rPr dirty="0"/>
              <a:t>4- Fama-French</a:t>
            </a:r>
          </a:p>
          <a:p>
            <a:pPr marL="0" lvl="0" indent="0">
              <a:buNone/>
            </a:pPr>
            <a:r>
              <a:rPr dirty="0"/>
              <a:t>5- Global Universe</a:t>
            </a:r>
          </a:p>
          <a:p>
            <a:pPr marL="0" lvl="0" indent="0">
              <a:buNone/>
            </a:pPr>
            <a:r>
              <a:rPr dirty="0"/>
              <a:t>6- Accounting Data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columns with year
['</a:t>
            </a:r>
            <a:r>
              <a:rPr dirty="0" err="1">
                <a:latin typeface="Courier"/>
              </a:rPr>
              <a:t>year_x</a:t>
            </a:r>
            <a:r>
              <a:rPr dirty="0">
                <a:latin typeface="Courier"/>
              </a:rPr>
              <a:t>', '</a:t>
            </a:r>
            <a:r>
              <a:rPr dirty="0" err="1">
                <a:latin typeface="Courier"/>
              </a:rPr>
              <a:t>year_y</a:t>
            </a:r>
            <a:r>
              <a:rPr dirty="0">
                <a:latin typeface="Courier"/>
              </a:rPr>
              <a:t>', 'year']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3. Univariate Portfolio sorting</a:t>
            </a:r>
          </a:p>
          <a:p>
            <a:pPr marL="0" lvl="0" indent="0">
              <a:buNone/>
            </a:pPr>
            <a:r>
              <a:rPr dirty="0"/>
              <a:t>% Nan in accounting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3.1 Univariate sorting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Sector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Add Market Portfolios</a:t>
            </a:r>
          </a:p>
          <a:p>
            <a:pPr marL="0" lvl="0" indent="0">
              <a:buNone/>
            </a:pPr>
            <a:r>
              <a:t>Transform in excess returns using the risk free rate</a:t>
            </a:r>
          </a:p>
          <a:p>
            <a:pPr marL="0" lvl="0" indent="0">
              <a:buNone/>
            </a:pPr>
            <a:r>
              <a:t>Make sure the first row is 0, so they all start at the same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128000" cy="322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beta_mkt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Performance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Cumulative Returns Plot</a:t>
            </a:r>
          </a:p>
        </p:txBody>
      </p:sp>
      <p:pic>
        <p:nvPicPr>
          <p:cNvPr id="3" name="Picture 1" descr="Main_files/figure-pptx/cell-31-output-1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2112264" y="1597660"/>
            <a:ext cx="5349240" cy="19481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2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Since launch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77.25%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77.25%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-15.93%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-15.93%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-5.15%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31.03%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-5.10%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85.80%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85.80%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60.36%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23.43%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103.34%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103.34%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-28.14%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-9.27%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esg_refinitive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-32.30%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-27.34%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5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1-output-6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marL="0" lvl="0" indent="0">
              <a:buNone/>
            </a:pPr>
            <a:r>
              <a:t>Uses </a:t>
            </a:r>
            <a:r>
              <a:rPr>
                <a:latin typeface="Courier"/>
              </a:rPr>
              <a:t>signal_2_simple_quantiles_constituents</a:t>
            </a:r>
            <a:r>
              <a:t> and </a:t>
            </a:r>
            <a:r>
              <a:rPr>
                <a:latin typeface="Courier"/>
              </a:rPr>
              <a:t>global_universe</a:t>
            </a:r>
            <a:r>
              <a:t> to inspect </a:t>
            </a:r>
            <a:r>
              <a:rPr b="1"/>
              <a:t>Industry</a:t>
            </a:r>
            <a:r>
              <a:t>, </a:t>
            </a:r>
            <a:r>
              <a:rPr b="1">
                <a:latin typeface="Courier"/>
              </a:rPr>
              <a:t>loc</a:t>
            </a:r>
            <a:r>
              <a:t>, and </a:t>
            </a:r>
            <a:r>
              <a:rPr b="1"/>
              <a:t>MacroRegion</a:t>
            </a:r>
            <a:r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t>, same as </a:t>
            </a:r>
            <a:r>
              <a:rPr>
                <a:latin typeface="Courier"/>
              </a:rPr>
              <a:t>constituents[i][-1]</a:t>
            </a:r>
            <a:r>
              <a:t>) and donut charts for the </a:t>
            </a:r>
            <a:r>
              <a:rPr b="1"/>
              <a:t>final</a:t>
            </a:r>
            <a:r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t> unions all </a:t>
            </a:r>
            <a:r>
              <a:rPr>
                <a:latin typeface="Courier"/>
              </a:rPr>
              <a:t>p_1</a:t>
            </a:r>
            <a:r>
              <a:t>…</a:t>
            </a:r>
            <a:r>
              <a:rPr>
                <a:latin typeface="Courier"/>
              </a:rPr>
              <a:t>p_k</a:t>
            </a:r>
            <a:r>
              <a:t>; </a:t>
            </a:r>
            <a:r>
              <a:rPr>
                <a:latin typeface="Courier"/>
              </a:rPr>
              <a:t>all_sub_portfolios=True</a:t>
            </a:r>
            <a:r>
              <a:t> plots one subplot per quantile.</a:t>
            </a:r>
          </a:p>
          <a:p>
            <a:pPr marL="0" lvl="0" indent="0">
              <a:buNone/>
            </a:pPr>
            <a:r>
              <a:t>The following only inspects the high transformation</a:t>
            </a:r>
          </a:p>
        </p:txBody>
      </p:sp>
      <p:pic>
        <p:nvPicPr>
          <p:cNvPr id="3" name="Picture 1" descr="Main_files/figure-pptx/cell-32-output-1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2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3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2832100" y="1193800"/>
            <a:ext cx="347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4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5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6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7.png"/>
          <p:cNvPicPr>
            <a:picLocks noGrp="1" noChangeAspect="1"/>
          </p:cNvPicPr>
          <p:nvPr/>
        </p:nvPicPr>
        <p:blipFill>
          <a:blip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708</Words>
  <Application>Microsoft Macintosh PowerPoint</Application>
  <PresentationFormat>On-screen Show (16:9)</PresentationFormat>
  <Paragraphs>184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</vt:lpstr>
      <vt:lpstr>Office Theme</vt:lpstr>
      <vt:lpstr>1. Dependencies</vt:lpstr>
      <vt:lpstr>PowerPoint Presentation</vt:lpstr>
      <vt:lpstr>1. Parameters</vt:lpstr>
      <vt:lpstr>4. Sector Split</vt:lpstr>
      <vt:lpstr>5. Fama-French</vt:lpstr>
      <vt:lpstr>6. Performance Metrics</vt:lpstr>
      <vt:lpstr>Cumulative Returns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Portfolio Constituents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cp:lastModifiedBy>Bruce, Christopher</cp:lastModifiedBy>
  <cp:revision>2</cp:revision>
  <dcterms:created xsi:type="dcterms:W3CDTF">2026-05-08T12:26:43Z</dcterms:created>
  <dcterms:modified xsi:type="dcterms:W3CDTF">2026-05-08T13:48:22Z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