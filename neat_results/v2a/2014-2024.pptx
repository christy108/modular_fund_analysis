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94726" autoAdjust="0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1.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3394472"/>
          </a:xfrm>
        </p:spPr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
=== Run parameters ===
</a:t>
            </a:r>
            <a:r>
              <a:rPr dirty="0" err="1">
                <a:latin typeface="Courier"/>
              </a:rPr>
              <a:t>region_analysis</a:t>
            </a:r>
            <a:r>
              <a:rPr dirty="0">
                <a:latin typeface="Courier"/>
              </a:rPr>
              <a:t>              = 'Japan'
</a:t>
            </a:r>
            <a:r>
              <a:rPr dirty="0" err="1">
                <a:latin typeface="Courier"/>
              </a:rPr>
              <a:t>esg_choice</a:t>
            </a:r>
            <a:r>
              <a:rPr dirty="0">
                <a:latin typeface="Courier"/>
              </a:rPr>
              <a:t>                   = 'none'
</a:t>
            </a:r>
            <a:r>
              <a:rPr dirty="0" err="1">
                <a:latin typeface="Courier"/>
              </a:rPr>
              <a:t>no_simple_quantiles</a:t>
            </a:r>
            <a:r>
              <a:rPr dirty="0">
                <a:latin typeface="Courier"/>
              </a:rPr>
              <a:t>          = 6
</a:t>
            </a:r>
            <a:r>
              <a:rPr dirty="0" err="1">
                <a:latin typeface="Courier"/>
              </a:rPr>
              <a:t>add_accounting_data</a:t>
            </a:r>
            <a:r>
              <a:rPr dirty="0">
                <a:latin typeface="Courier"/>
              </a:rPr>
              <a:t>          = True
</a:t>
            </a:r>
            <a:r>
              <a:rPr dirty="0" err="1">
                <a:latin typeface="Courier"/>
              </a:rPr>
              <a:t>show_sector_portfolio</a:t>
            </a:r>
            <a:r>
              <a:rPr dirty="0">
                <a:latin typeface="Courier"/>
              </a:rPr>
              <a:t>        = False
</a:t>
            </a:r>
            <a:r>
              <a:rPr dirty="0" err="1">
                <a:latin typeface="Courier"/>
              </a:rPr>
              <a:t>start_year</a:t>
            </a:r>
            <a:r>
              <a:rPr dirty="0">
                <a:latin typeface="Courier"/>
              </a:rPr>
              <a:t>                   = 2013
</a:t>
            </a:r>
            <a:r>
              <a:rPr dirty="0" err="1">
                <a:latin typeface="Courier"/>
              </a:rPr>
              <a:t>end_year</a:t>
            </a:r>
            <a:r>
              <a:rPr dirty="0">
                <a:latin typeface="Courier"/>
              </a:rPr>
              <a:t>                     = 2024
</a:t>
            </a:r>
            <a:r>
              <a:rPr dirty="0" err="1">
                <a:latin typeface="Courier"/>
              </a:rPr>
              <a:t>top_x_by_industry_even_split</a:t>
            </a:r>
            <a:r>
              <a:rPr dirty="0">
                <a:latin typeface="Courier"/>
              </a:rPr>
              <a:t> = 6
</a:t>
            </a:r>
            <a:r>
              <a:rPr dirty="0" err="1">
                <a:latin typeface="Courier"/>
              </a:rPr>
              <a:t>use_alpha_bound</a:t>
            </a:r>
            <a:r>
              <a:rPr dirty="0">
                <a:latin typeface="Courier"/>
              </a:rPr>
              <a:t>              = True
</a:t>
            </a:r>
            <a:r>
              <a:rPr dirty="0" err="1">
                <a:latin typeface="Courier"/>
              </a:rPr>
              <a:t>alpha_bound</a:t>
            </a:r>
            <a:r>
              <a:rPr dirty="0">
                <a:latin typeface="Courier"/>
              </a:rPr>
              <a:t>                  = 0.1
</a:t>
            </a:r>
            <a:r>
              <a:rPr dirty="0" err="1">
                <a:latin typeface="Courier"/>
              </a:rPr>
              <a:t>mktcap_covered</a:t>
            </a:r>
            <a:r>
              <a:rPr dirty="0">
                <a:latin typeface="Courier"/>
              </a:rPr>
              <a:t>               = 0.95
</a:t>
            </a:r>
            <a:r>
              <a:rPr dirty="0" err="1">
                <a:latin typeface="Courier"/>
              </a:rPr>
              <a:t>drop_real_estate</a:t>
            </a:r>
            <a:r>
              <a:rPr dirty="0">
                <a:latin typeface="Courier"/>
              </a:rPr>
              <a:t>             = True
</a:t>
            </a:r>
            <a:r>
              <a:rPr dirty="0" err="1">
                <a:latin typeface="Courier"/>
              </a:rPr>
              <a:t>fama_factor_region</a:t>
            </a:r>
            <a:r>
              <a:rPr dirty="0">
                <a:latin typeface="Courier"/>
              </a:rPr>
              <a:t>           = 'Japan'
</a:t>
            </a:r>
            <a:r>
              <a:rPr dirty="0" err="1">
                <a:latin typeface="Courier"/>
              </a:rPr>
              <a:t>currency_filter</a:t>
            </a:r>
            <a:r>
              <a:rPr dirty="0">
                <a:latin typeface="Courier"/>
              </a:rPr>
              <a:t>              = ['JPY']
</a:t>
            </a:r>
            <a:r>
              <a:rPr dirty="0" err="1">
                <a:latin typeface="Courier"/>
              </a:rPr>
              <a:t>convert_to_USD</a:t>
            </a:r>
            <a:r>
              <a:rPr dirty="0">
                <a:latin typeface="Courier"/>
              </a:rPr>
              <a:t>               = False
======================
</a:t>
            </a:r>
          </a:p>
          <a:p>
            <a:pPr marL="0" lvl="0" indent="0">
              <a:buNone/>
            </a:pPr>
            <a:r>
              <a:rPr dirty="0"/>
              <a:t>Signal Design</a:t>
            </a:r>
          </a:p>
          <a:p>
            <a:pPr marL="0" lvl="0" indent="0">
              <a:buNone/>
            </a:pPr>
            <a:r>
              <a:rPr dirty="0"/>
              <a:t>Signal Choice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 Data</a:t>
            </a:r>
          </a:p>
          <a:p>
            <a:pPr marL="0" lvl="0" indent="0">
              <a:buNone/>
            </a:pPr>
            <a:r>
              <a:rPr dirty="0"/>
              <a:t>Golden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2.1 LC dataset</a:t>
            </a:r>
          </a:p>
          <a:p>
            <a:pPr marL="0" lvl="0" indent="0">
              <a:buNone/>
            </a:pPr>
            <a:r>
              <a:rPr dirty="0"/>
              <a:t>clean below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24461.000000
mean        28.322227
std         30.218086
min          0.000000
25%          9.000000
50%         19.000000
75%         36.000000
max        465.000000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21525.000000
mean        24.935006
std         18.711493
min          4.000000
25%         11.000000
50%         19.000000
75%         34.000000
max        129.000000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marL="0" lvl="0" indent="0">
              <a:buNone/>
            </a:pPr>
            <a:r>
              <a:rPr dirty="0"/>
              <a:t>Create the signal</a:t>
            </a:r>
          </a:p>
          <a:p>
            <a:pPr marL="0" lvl="0" indent="0">
              <a:buNone/>
            </a:pPr>
            <a:r>
              <a:rPr dirty="0"/>
              <a:t>Num stocks in USA and EU prior to some more filters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2.2 WRDS, Fama-French and FX data</a:t>
            </a:r>
          </a:p>
          <a:p>
            <a:pPr marL="0" lvl="0" indent="0">
              <a:buNone/>
            </a:pPr>
            <a:r>
              <a:rPr dirty="0"/>
              <a:t>Get and Process: 1- FX data</a:t>
            </a:r>
          </a:p>
          <a:p>
            <a:pPr marL="0" lvl="0" indent="0">
              <a:buNone/>
            </a:pPr>
            <a:r>
              <a:rPr dirty="0"/>
              <a:t>2- USA Universe</a:t>
            </a:r>
          </a:p>
          <a:p>
            <a:pPr marL="0" lvl="0" indent="0">
              <a:buNone/>
            </a:pPr>
            <a:r>
              <a:rPr dirty="0"/>
              <a:t>3- ROW Universe</a:t>
            </a:r>
          </a:p>
          <a:p>
            <a:pPr marL="0" lvl="0" indent="0">
              <a:buNone/>
            </a:pPr>
            <a:r>
              <a:rPr dirty="0"/>
              <a:t>4 - Japan</a:t>
            </a:r>
          </a:p>
          <a:p>
            <a:pPr marL="0" lvl="0" indent="0">
              <a:buNone/>
            </a:pPr>
            <a:r>
              <a:rPr dirty="0"/>
              <a:t>5 - ESG</a:t>
            </a:r>
          </a:p>
          <a:p>
            <a:pPr marL="0" lvl="0" indent="0">
              <a:buNone/>
            </a:pPr>
            <a:r>
              <a:rPr dirty="0"/>
              <a:t>4- Fama-French</a:t>
            </a:r>
          </a:p>
          <a:p>
            <a:pPr marL="0" lvl="0" indent="0">
              <a:buNone/>
            </a:pPr>
            <a:r>
              <a:rPr dirty="0"/>
              <a:t>5- Global Universe</a:t>
            </a:r>
          </a:p>
          <a:p>
            <a:pPr marL="0" lvl="0" indent="0">
              <a:buNone/>
            </a:pPr>
            <a:r>
              <a:rPr dirty="0"/>
              <a:t>6- Accounting Data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columns with year
['year']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 Univariate Portfolio sorting</a:t>
            </a:r>
          </a:p>
          <a:p>
            <a:pPr marL="0" lvl="0" indent="0">
              <a:buNone/>
            </a:pPr>
            <a:r>
              <a:rPr dirty="0"/>
              <a:t>% Nan in accounting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3.1 Univariate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Sector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395030"/>
              </p:ext>
            </p:extLst>
          </p:nvPr>
        </p:nvGraphicFramePr>
        <p:xfrm>
          <a:off x="457200" y="1160889"/>
          <a:ext cx="834489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3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757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3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3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3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3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57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p-value(alpha)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Returns Plot</a:t>
            </a:r>
          </a:p>
        </p:txBody>
      </p:sp>
      <p:pic>
        <p:nvPicPr>
          <p:cNvPr id="3" name="Picture 1" descr="Main_files/figure-pptx/cell-31-output-1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457200" y="1409700"/>
            <a:ext cx="8229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2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Since launch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35.76%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55.19%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123.92%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59.76%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50.28%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47.25%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110.91%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133.71%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54.94%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173.41%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48.30%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126.91%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-26.12%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-9.16%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-12.11%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-28.34%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5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892048" y="876300"/>
            <a:ext cx="767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6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marL="0" lvl="0" indent="0">
              <a:buNone/>
            </a:pPr>
            <a:r>
              <a:t>Uses </a:t>
            </a:r>
            <a:r>
              <a:rPr>
                <a:latin typeface="Courier"/>
              </a:rPr>
              <a:t>signal_2_simple_quantiles_constituents</a:t>
            </a:r>
            <a:r>
              <a:t> and </a:t>
            </a:r>
            <a:r>
              <a:rPr>
                <a:latin typeface="Courier"/>
              </a:rPr>
              <a:t>global_universe</a:t>
            </a:r>
            <a:r>
              <a:t> to inspect </a:t>
            </a:r>
            <a:r>
              <a:rPr b="1"/>
              <a:t>Industry</a:t>
            </a:r>
            <a:r>
              <a:t>, </a:t>
            </a:r>
            <a:r>
              <a:rPr b="1">
                <a:latin typeface="Courier"/>
              </a:rPr>
              <a:t>loc</a:t>
            </a:r>
            <a:r>
              <a:t>, and </a:t>
            </a:r>
            <a:r>
              <a:rPr b="1"/>
              <a:t>MacroRegion</a:t>
            </a:r>
            <a:r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t>, same as </a:t>
            </a:r>
            <a:r>
              <a:rPr>
                <a:latin typeface="Courier"/>
              </a:rPr>
              <a:t>constituents[i][-1]</a:t>
            </a:r>
            <a:r>
              <a:t>) and donut charts for the </a:t>
            </a:r>
            <a:r>
              <a:rPr b="1"/>
              <a:t>final</a:t>
            </a:r>
            <a:r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t> unions all </a:t>
            </a:r>
            <a:r>
              <a:rPr>
                <a:latin typeface="Courier"/>
              </a:rPr>
              <a:t>p_1</a:t>
            </a:r>
            <a:r>
              <a:t>…</a:t>
            </a:r>
            <a:r>
              <a:rPr>
                <a:latin typeface="Courier"/>
              </a:rPr>
              <a:t>p_k</a:t>
            </a:r>
            <a:r>
              <a:t>; </a:t>
            </a:r>
            <a:r>
              <a:rPr>
                <a:latin typeface="Courier"/>
              </a:rPr>
              <a:t>all_sub_portfolios=True</a:t>
            </a:r>
            <a:r>
              <a:t> plots one subplot per quantile.</a:t>
            </a:r>
          </a:p>
          <a:p>
            <a:pPr marL="0" lvl="0" indent="0">
              <a:buNone/>
            </a:pPr>
            <a:r>
              <a:t>The following only inspects the high transformation</a:t>
            </a:r>
          </a:p>
        </p:txBody>
      </p:sp>
      <p:pic>
        <p:nvPicPr>
          <p:cNvPr id="3" name="Picture 1" descr="Main_files/figure-pptx/cell-32-output-1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2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3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768600" y="1193800"/>
            <a:ext cx="361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4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927350" y="1090433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5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6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7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Macintosh PowerPoint</Application>
  <PresentationFormat>On-screen Show (16:9)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1. Dependencies</vt:lpstr>
      <vt:lpstr>1. Parameters</vt:lpstr>
      <vt:lpstr>4. Sector Split</vt:lpstr>
      <vt:lpstr>5. Fama-French</vt:lpstr>
      <vt:lpstr>6. Performance Metrics</vt:lpstr>
      <vt:lpstr>Cumulative Returns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Portfolio Constituents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cp:lastModifiedBy>Bruce, Christopher</cp:lastModifiedBy>
  <cp:revision>2</cp:revision>
  <dcterms:created xsi:type="dcterms:W3CDTF">2026-05-08T12:46:27Z</dcterms:created>
  <dcterms:modified xsi:type="dcterms:W3CDTF">2026-05-08T13:43:02Z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