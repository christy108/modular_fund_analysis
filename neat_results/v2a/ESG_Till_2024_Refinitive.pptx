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2" Type="http://schemas.openxmlformats.org/officeDocument/2006/relationships/viewProps" Target="viewProps.xml" /><Relationship Id="rId2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4" Type="http://schemas.openxmlformats.org/officeDocument/2006/relationships/tableStyles" Target="tableStyles.xml" /><Relationship Id="rId2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1. Dependencies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Filters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Signal Design</a:t>
            </a:r>
          </a:p>
          <a:p>
            <a:pPr lvl="0" indent="0" marL="0">
              <a:buNone/>
            </a:pPr>
            <a:r>
              <a:rPr/>
              <a:t>Signal Choice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 Data</a:t>
            </a:r>
          </a:p>
          <a:p>
            <a:pPr lvl="0" indent="0" marL="0">
              <a:buNone/>
            </a:pPr>
            <a:r>
              <a:rPr/>
              <a:t>Golden Data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2.1 LC dataset</a:t>
            </a:r>
          </a:p>
          <a:p>
            <a:pPr lvl="0" indent="0" marL="0">
              <a:buNone/>
            </a:pPr>
            <a:r>
              <a:rPr/>
              <a:t>clean below</a:t>
            </a:r>
          </a:p>
          <a:p>
            <a:pPr lvl="0" indent="0">
              <a:buNone/>
            </a:pPr>
            <a:r>
              <a:rPr>
                <a:latin typeface="Courier"/>
              </a:rPr>
              <a:t>array(['Industrials', 'Primary Industries', 'Consumer', 'Utilities',
       'Financial', 'Health Care', 'ICT'], dtype=object)</a:t>
            </a:r>
          </a:p>
          <a:p>
            <a:pPr lvl="0" indent="0">
              <a:buNone/>
            </a:pPr>
            <a:r>
              <a:rPr>
                <a:latin typeface="Courier"/>
              </a:rPr>
              <a:t>count    24461.000000
mean        28.322227
std         30.218086
min          0.000000
25%          9.000000
50%         19.000000
75%         36.000000
max        465.000000
Name: sum_activities, dtype: float64</a:t>
            </a:r>
          </a:p>
          <a:p>
            <a:pPr lvl="0" indent="0">
              <a:buNone/>
            </a:pPr>
            <a:r>
              <a:rPr>
                <a:latin typeface="Courier"/>
              </a:rPr>
              <a:t>count    21525.000000
mean        24.935006
std         18.711493
min          4.000000
25%         11.000000
50%         19.000000
75%         34.000000
max        129.000000
Name: sum_activities, dtype: float64</a:t>
            </a:r>
          </a:p>
          <a:p>
            <a:pPr lvl="0" indent="0" marL="0">
              <a:buNone/>
            </a:pPr>
            <a:r>
              <a:rPr/>
              <a:t>Create the signal</a:t>
            </a:r>
          </a:p>
          <a:p>
            <a:pPr lvl="0" indent="0" marL="0">
              <a:buNone/>
            </a:pPr>
            <a:r>
              <a:rPr/>
              <a:t>Num stocks in USA and EU prior to some more filters</a:t>
            </a:r>
          </a:p>
          <a:p>
            <a:pPr lvl="0" indent="0">
              <a:buNone/>
            </a:pPr>
            <a:r>
              <a:rPr>
                <a:latin typeface="Courier"/>
              </a:rPr>
              <a:t>0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2.2 WRDS, Fama-French and FX data</a:t>
            </a:r>
          </a:p>
          <a:p>
            <a:pPr lvl="0" indent="0" marL="0">
              <a:buNone/>
            </a:pPr>
            <a:r>
              <a:rPr/>
              <a:t>Get and Process: 1- FX data</a:t>
            </a:r>
          </a:p>
          <a:p>
            <a:pPr lvl="0" indent="0" marL="0">
              <a:buNone/>
            </a:pPr>
            <a:r>
              <a:rPr/>
              <a:t>2- USA Universe</a:t>
            </a:r>
          </a:p>
          <a:p>
            <a:pPr lvl="0" indent="0" marL="0">
              <a:buNone/>
            </a:pPr>
            <a:r>
              <a:rPr/>
              <a:t>3- ROW Universe</a:t>
            </a:r>
          </a:p>
          <a:p>
            <a:pPr lvl="0" indent="0" marL="0">
              <a:buNone/>
            </a:pPr>
            <a:r>
              <a:rPr/>
              <a:t>4 - Japan</a:t>
            </a:r>
          </a:p>
          <a:p>
            <a:pPr lvl="0" indent="0" marL="0">
              <a:buNone/>
            </a:pPr>
            <a:r>
              <a:rPr/>
              <a:t>5 - ESG</a:t>
            </a:r>
          </a:p>
          <a:p>
            <a:pPr lvl="0" indent="0" marL="0">
              <a:buNone/>
            </a:pPr>
            <a:r>
              <a:rPr/>
              <a:t>4- Fama-French</a:t>
            </a:r>
          </a:p>
          <a:p>
            <a:pPr lvl="0" indent="0" marL="0">
              <a:buNone/>
            </a:pPr>
            <a:r>
              <a:rPr/>
              <a:t>5- Global Universe</a:t>
            </a:r>
          </a:p>
          <a:p>
            <a:pPr lvl="0" indent="0" marL="0">
              <a:buNone/>
            </a:pPr>
            <a:r>
              <a:rPr/>
              <a:t>6- Accounting Data</a:t>
            </a:r>
          </a:p>
          <a:p>
            <a:pPr lvl="0" indent="0">
              <a:buNone/>
            </a:pPr>
            <a:r>
              <a:rPr>
                <a:latin typeface="Courier"/>
              </a:rPr>
              <a:t>columns with year
['year_x', 'year_y', 'year']</a:t>
            </a:r>
          </a:p>
          <a:p>
            <a:pPr lvl="0" indent="0">
              <a:buNone/>
            </a:pPr>
            <a:r>
              <a:rPr>
                <a:latin typeface="Courier"/>
              </a:rPr>
              <a:t>gvkey
6    2913889
Name: count, dtype: int64</a:t>
            </a:r>
          </a:p>
          <a:p>
            <a:pPr lvl="0" indent="0">
              <a:buNone/>
            </a:pPr>
            <a:r>
              <a:rPr>
                <a:latin typeface="Courier"/>
              </a:rPr>
              <a:t>gvkey
6    21525
Name: count, dtype: int64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 Univariate Portfolio sorting</a:t>
            </a:r>
          </a:p>
          <a:p>
            <a:pPr lvl="0" indent="0" marL="0">
              <a:buNone/>
            </a:pPr>
            <a:r>
              <a:rPr/>
              <a:t>% Nan in accounting data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3.1 Univariate sorting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 Sector Split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Store constituents over time + compute “next-month return” by Industry</a:t>
            </a:r>
          </a:p>
          <a:p>
            <a:pPr lvl="0" indent="0" marL="0">
              <a:buNone/>
            </a:pPr>
            <a:r>
              <a:rPr/>
              <a:t>Add Market Portfolios</a:t>
            </a:r>
          </a:p>
          <a:p>
            <a:pPr lvl="0" indent="0" marL="0">
              <a:buNone/>
            </a:pPr>
            <a:r>
              <a:rPr/>
              <a:t>Transform in excess returns using the risk free rate</a:t>
            </a:r>
          </a:p>
          <a:p>
            <a:pPr lvl="0" indent="0" marL="0">
              <a:buNone/>
            </a:pPr>
            <a:r>
              <a:rPr/>
              <a:t>Make sure the first row is 0, so they all start at the same date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 Fama-French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Low advocacy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 advocacy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Low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Low transformation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 transformation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Low esg_refinitive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 esg_refinitive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Sample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alpha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0.27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0.29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0.27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0.42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beta_mkt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0.96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0.88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0.87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0.98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0.92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0.92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0.83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0.97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0.91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beta_smb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-0.23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-0.17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-0.12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-0.19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-0.15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-0.18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-0.05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-0.31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-0.18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beta_hml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0.40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p-value(alpha)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0.26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0.21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0.22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0.18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0.28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0.14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0.18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 Performance Metrics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Cumulative Returns Plot</a:t>
            </a:r>
          </a:p>
        </p:txBody>
      </p:sp>
      <p:pic>
        <p:nvPicPr>
          <p:cNvPr descr="Main_files/figure-pptx/cell-31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409700"/>
            <a:ext cx="8229600" cy="2971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in_files/figure-pptx/cell-31-output-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25600" y="1193800"/>
            <a:ext cx="5880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1yr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3yr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5yr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10yr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Since launch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Sample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2.93%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1.71%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12.41%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12.41%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35.04%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53.63%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110.99%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137.29%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-1.19%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-4.99%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1.45%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1.45%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-3.58%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9.31%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59.76%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50.28%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 esg_refinitive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3.95%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3.47%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17.47%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17.47%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49.15%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75.82%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140.94%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169.63%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Low esg_refinitive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2.29%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1.72%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13.26%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13.26%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29.95%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31.70%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84.82%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108.90%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 advocacy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2.33%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0.59%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11.04%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11.04%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44.26%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52.87%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113.00%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131.30%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 preparation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3.25%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2.82%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11.28%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11.28%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31.83%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56.69%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121.51%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149.32%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 transformation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2.47%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0.47%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15.01%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15.01%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34.91%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52.15%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96.21%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123.50%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Sharpe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VaR 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Max Drawdown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Alpha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p-value(alpha)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Sample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0.61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-10.99%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-28.14%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0.180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-9.16%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-29.34%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 esg_refinitive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0.65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-11.51%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-28.41%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0.42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0.140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Low esg_refinitive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0.55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-11.52%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-25.65%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0.27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0.320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 advocacy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-10.69%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-27.47%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0.210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 preparation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-11.22%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-27.99%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0.220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 transformation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0.57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-11.30%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-31.36%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0.29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0.280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in_files/figure-pptx/cell-31-output-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98500" y="1193800"/>
            <a:ext cx="7747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in_files/figure-pptx/cell-31-output-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85800" y="1193800"/>
            <a:ext cx="7772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7. Portfolio Constituents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Portfolio constituents — category mix (</a:t>
            </a:r>
            <a:r>
              <a:rPr b="1">
                <a:latin typeface="Courier"/>
              </a:rPr>
              <a:t>PortfolioConstituents</a:t>
            </a:r>
            <a:r>
              <a:rPr b="1"/>
              <a:t>)</a:t>
            </a:r>
          </a:p>
          <a:p>
            <a:pPr lvl="0" indent="0" marL="0">
              <a:buNone/>
            </a:pPr>
            <a:r>
              <a:rPr/>
              <a:t>Uses </a:t>
            </a:r>
            <a:r>
              <a:rPr>
                <a:latin typeface="Courier"/>
              </a:rPr>
              <a:t>signal_2_simple_quantiles_constituents</a:t>
            </a:r>
            <a:r>
              <a:rPr/>
              <a:t> and </a:t>
            </a:r>
            <a:r>
              <a:rPr>
                <a:latin typeface="Courier"/>
              </a:rPr>
              <a:t>global_universe</a:t>
            </a:r>
            <a:r>
              <a:rPr/>
              <a:t> to inspect </a:t>
            </a:r>
            <a:r>
              <a:rPr b="1"/>
              <a:t>Industry</a:t>
            </a:r>
            <a:r>
              <a:rPr/>
              <a:t>, </a:t>
            </a:r>
            <a:r>
              <a:rPr b="1">
                <a:latin typeface="Courier"/>
              </a:rPr>
              <a:t>loc</a:t>
            </a:r>
            <a:r>
              <a:rPr/>
              <a:t>, and </a:t>
            </a:r>
            <a:r>
              <a:rPr b="1"/>
              <a:t>MacroRegion</a:t>
            </a:r>
            <a:r>
              <a:rPr/>
              <a:t>: line charts of stock counts over time (default = last quantile </a:t>
            </a:r>
            <a:r>
              <a:rPr>
                <a:latin typeface="Courier"/>
              </a:rPr>
              <a:t>p_k</a:t>
            </a:r>
            <a:r>
              <a:rPr/>
              <a:t>, same as </a:t>
            </a:r>
            <a:r>
              <a:rPr>
                <a:latin typeface="Courier"/>
              </a:rPr>
              <a:t>constituents[i][-1]</a:t>
            </a:r>
            <a:r>
              <a:rPr/>
              <a:t>) and donut charts for the </a:t>
            </a:r>
            <a:r>
              <a:rPr b="1"/>
              <a:t>final</a:t>
            </a:r>
            <a:r>
              <a:rPr/>
              <a:t> formation month. Optional: </a:t>
            </a:r>
            <a:r>
              <a:rPr>
                <a:latin typeface="Courier"/>
              </a:rPr>
              <a:t>analyse_all_portfolios_at_once=True</a:t>
            </a:r>
            <a:r>
              <a:rPr/>
              <a:t> unions all </a:t>
            </a:r>
            <a:r>
              <a:rPr>
                <a:latin typeface="Courier"/>
              </a:rPr>
              <a:t>p_1</a:t>
            </a:r>
            <a:r>
              <a:rPr/>
              <a:t>…</a:t>
            </a:r>
            <a:r>
              <a:rPr>
                <a:latin typeface="Courier"/>
              </a:rPr>
              <a:t>p_k</a:t>
            </a:r>
            <a:r>
              <a:rPr/>
              <a:t>; </a:t>
            </a:r>
            <a:r>
              <a:rPr>
                <a:latin typeface="Courier"/>
              </a:rPr>
              <a:t>all_sub_portfolios=True</a:t>
            </a:r>
            <a:r>
              <a:rPr/>
              <a:t> plots one subplot per quantile.</a:t>
            </a:r>
          </a:p>
          <a:p>
            <a:pPr lvl="0" indent="0" marL="0">
              <a:buNone/>
            </a:pPr>
            <a:r>
              <a:rPr/>
              <a:t>The following only inspects the high transformation</a:t>
            </a:r>
          </a:p>
        </p:txBody>
      </p:sp>
      <p:pic>
        <p:nvPicPr>
          <p:cNvPr descr="Main_files/figure-pptx/cell-32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30300"/>
            <a:ext cx="5105400" cy="252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in_files/figure-pptx/cell-32-output-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55700" y="1193800"/>
            <a:ext cx="6832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in_files/figure-pptx/cell-32-output-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43200" y="1193800"/>
            <a:ext cx="36703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in_files/figure-pptx/cell-32-output-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33700" y="1193800"/>
            <a:ext cx="32893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in_files/figure-pptx/cell-32-output-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33700" y="1193800"/>
            <a:ext cx="32893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in_files/figure-pptx/cell-32-output-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536700"/>
            <a:ext cx="8229600" cy="269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in_files/figure-pptx/cell-32-output-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536700"/>
            <a:ext cx="8229600" cy="269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Dependencies</dc:title>
  <dc:creator/>
  <cp:keywords/>
  <dcterms:created xsi:type="dcterms:W3CDTF">2026-05-08T12:11:18Z</dcterms:created>
  <dcterms:modified xsi:type="dcterms:W3CDTF">2026-05-08T12:11:18Z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ngines">
    <vt:lpwstr/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toc-title">
    <vt:lpwstr>Table of contents</vt:lpwstr>
  </property>
</Properties>
</file>