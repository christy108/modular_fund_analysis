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1. Dependencies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=== Run parameters ===
region_analysis              = 'Japan'
esg_choice                   = 'none'
no_simple_quantiles          = 6
add_accounting_data          = True
show_sector_portfolio        = False
start_year                   = 2020
end_year                     = 2024
top_x_by_industry_even_split = 6
use_alpha_bound              = True
alpha_bound                  = 0.1
mktcap_covered               = 0.95
drop_real_estate             = True
fama_factor_region           = 'Japan'
currency_filter              = ['JPY']
convert_to_USD               = False
======================
</a:t>
            </a:r>
          </a:p>
          <a:p>
            <a:pPr lvl="0" indent="0" marL="0">
              <a:buNone/>
            </a:pPr>
            <a:r>
              <a:rPr/>
              <a:t>Signal Design</a:t>
            </a:r>
          </a:p>
          <a:p>
            <a:pPr lvl="0" indent="0" marL="0">
              <a:buNone/>
            </a:pPr>
            <a:r>
              <a:rPr/>
              <a:t>Signal Choice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Data</a:t>
            </a:r>
          </a:p>
          <a:p>
            <a:pPr lvl="0" indent="0" marL="0">
              <a:buNone/>
            </a:pPr>
            <a:r>
              <a:rPr/>
              <a:t>Golden Data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2.1 LC dataset</a:t>
            </a:r>
          </a:p>
          <a:p>
            <a:pPr lvl="0" indent="0" marL="0">
              <a:buNone/>
            </a:pPr>
            <a:r>
              <a:rPr/>
              <a:t>clean below</a:t>
            </a:r>
          </a:p>
          <a:p>
            <a:pPr lvl="0" indent="0">
              <a:buNone/>
            </a:pPr>
            <a:r>
              <a:rPr>
                <a:latin typeface="Courier"/>
              </a:rPr>
              <a:t>count    15253.000000
mean        27.001377
std         28.883547
min          0.000000
25%          9.000000
50%         18.000000
75%         34.000000
max        465.000000
Name: sum_activities, dtype: float64</a:t>
            </a:r>
          </a:p>
          <a:p>
            <a:pPr lvl="0" indent="0">
              <a:buNone/>
            </a:pPr>
            <a:r>
              <a:rPr>
                <a:latin typeface="Courier"/>
              </a:rPr>
              <a:t>count    13412.000000
mean        23.711303
std         17.614447
min          4.000000
25%         10.000000
50%         18.000000
75%         32.000000
max         86.000000
Name: sum_activities, dtype: float64</a:t>
            </a:r>
          </a:p>
          <a:p>
            <a:pPr lvl="0" indent="0" marL="0">
              <a:buNone/>
            </a:pPr>
            <a:r>
              <a:rPr/>
              <a:t>Create the signal</a:t>
            </a:r>
          </a:p>
          <a:p>
            <a:pPr lvl="0" indent="0" marL="0">
              <a:buNone/>
            </a:pPr>
            <a:r>
              <a:rPr/>
              <a:t>Num stocks in USA and EU prior to some more filters</a:t>
            </a:r>
          </a:p>
          <a:p>
            <a:pPr lvl="0" indent="0">
              <a:buNone/>
            </a:pPr>
            <a:r>
              <a:rPr>
                <a:latin typeface="Courier"/>
              </a:rPr>
              <a:t>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2.2 WRDS, Fama-French and FX data</a:t>
            </a:r>
          </a:p>
          <a:p>
            <a:pPr lvl="0" indent="0" marL="0">
              <a:buNone/>
            </a:pPr>
            <a:r>
              <a:rPr/>
              <a:t>Get and Process: 1- FX data</a:t>
            </a:r>
          </a:p>
          <a:p>
            <a:pPr lvl="0" indent="0" marL="0">
              <a:buNone/>
            </a:pPr>
            <a:r>
              <a:rPr/>
              <a:t>2- USA Universe</a:t>
            </a:r>
          </a:p>
          <a:p>
            <a:pPr lvl="0" indent="0" marL="0">
              <a:buNone/>
            </a:pPr>
            <a:r>
              <a:rPr/>
              <a:t>3- ROW Universe</a:t>
            </a:r>
          </a:p>
          <a:p>
            <a:pPr lvl="0" indent="0" marL="0">
              <a:buNone/>
            </a:pPr>
            <a:r>
              <a:rPr/>
              <a:t>4 - Japan</a:t>
            </a:r>
          </a:p>
          <a:p>
            <a:pPr lvl="0" indent="0" marL="0">
              <a:buNone/>
            </a:pPr>
            <a:r>
              <a:rPr/>
              <a:t>5 - ESG</a:t>
            </a:r>
          </a:p>
          <a:p>
            <a:pPr lvl="0" indent="0" marL="0">
              <a:buNone/>
            </a:pPr>
            <a:r>
              <a:rPr/>
              <a:t>4- Fama-French</a:t>
            </a:r>
          </a:p>
          <a:p>
            <a:pPr lvl="0" indent="0" marL="0">
              <a:buNone/>
            </a:pPr>
            <a:r>
              <a:rPr/>
              <a:t>5- Global Universe</a:t>
            </a:r>
          </a:p>
          <a:p>
            <a:pPr lvl="0" indent="0" marL="0">
              <a:buNone/>
            </a:pPr>
            <a:r>
              <a:rPr/>
              <a:t>6- Accounting Data</a:t>
            </a:r>
          </a:p>
          <a:p>
            <a:pPr lvl="0" indent="0">
              <a:buNone/>
            </a:pPr>
            <a:r>
              <a:rPr>
                <a:latin typeface="Courier"/>
              </a:rPr>
              <a:t>columns with year
['year']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Univariate Portfolio sorting</a:t>
            </a:r>
          </a:p>
          <a:p>
            <a:pPr lvl="0" indent="0" marL="0">
              <a:buNone/>
            </a:pPr>
            <a:r>
              <a:rPr/>
              <a:t>% Nan in accounting data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3.1 Univariate sorting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Sector Split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Fama-French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 advocacy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advocacy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 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Sample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alpha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beta_mkt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beta_smb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-0.22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beta_hml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p-value(alpha)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0.08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Performance Metrics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Cumulative Returns Plot</a:t>
            </a:r>
          </a:p>
        </p:txBody>
      </p:sp>
      <p:pic>
        <p:nvPicPr>
          <p:cNvPr descr="Main_files/figure-pptx/cell-32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97000"/>
            <a:ext cx="8229600" cy="2997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2-output-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89100" y="1193800"/>
            <a:ext cx="5753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Since launch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Sample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3.09%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2.52%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11.77%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11.77%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35.76%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38.58%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38.58%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38.58%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-1.19%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-4.99%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1.45%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1.45%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-3.58%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-3.40%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-3.40%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-3.40%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transformation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2.65%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3.39%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14.14%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14.14%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33.16%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34.71%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34.71%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34.71%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preparation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4.72%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3.61%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11.00%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11.00%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31.66%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41.26%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41.26%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41.26%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advocacy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2.47%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9.63%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9.63%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35.81%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35.91%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35.91%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35.91%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Sharpe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 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Max Drawdown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p-value(alpha)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Sample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-4.82%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-7.10%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0.080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-8.94%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-29.34%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transformation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-5.47%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-7.69%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0.070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preparation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-5.57%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-6.61%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0.110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advocacy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-5.27%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-9.22%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0.060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2-output-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09600" y="1193800"/>
            <a:ext cx="7924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2-output-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85800" y="1193800"/>
            <a:ext cx="7772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7. Portfolio Constituents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Portfolio constituents — category mix (</a:t>
            </a:r>
            <a:r>
              <a:rPr b="1">
                <a:latin typeface="Courier"/>
              </a:rPr>
              <a:t>PortfolioConstituents</a:t>
            </a:r>
            <a:r>
              <a:rPr b="1"/>
              <a:t>)</a:t>
            </a:r>
          </a:p>
          <a:p>
            <a:pPr lvl="0" indent="0" marL="0">
              <a:buNone/>
            </a:pPr>
            <a:r>
              <a:rPr/>
              <a:t>Uses </a:t>
            </a:r>
            <a:r>
              <a:rPr>
                <a:latin typeface="Courier"/>
              </a:rPr>
              <a:t>signal_2_simple_quantiles_constituents</a:t>
            </a:r>
            <a:r>
              <a:rPr/>
              <a:t> and </a:t>
            </a:r>
            <a:r>
              <a:rPr>
                <a:latin typeface="Courier"/>
              </a:rPr>
              <a:t>global_universe</a:t>
            </a:r>
            <a:r>
              <a:rPr/>
              <a:t> to inspect </a:t>
            </a:r>
            <a:r>
              <a:rPr b="1"/>
              <a:t>Industry</a:t>
            </a:r>
            <a:r>
              <a:rPr/>
              <a:t>, </a:t>
            </a:r>
            <a:r>
              <a:rPr b="1">
                <a:latin typeface="Courier"/>
              </a:rPr>
              <a:t>loc</a:t>
            </a:r>
            <a:r>
              <a:rPr/>
              <a:t>, and </a:t>
            </a:r>
            <a:r>
              <a:rPr b="1"/>
              <a:t>MacroRegion</a:t>
            </a:r>
            <a:r>
              <a:rPr/>
              <a:t>: line charts of stock counts over time (default = last quantile </a:t>
            </a:r>
            <a:r>
              <a:rPr>
                <a:latin typeface="Courier"/>
              </a:rPr>
              <a:t>p_k</a:t>
            </a:r>
            <a:r>
              <a:rPr/>
              <a:t>, same as </a:t>
            </a:r>
            <a:r>
              <a:rPr>
                <a:latin typeface="Courier"/>
              </a:rPr>
              <a:t>constituents[i][-1]</a:t>
            </a:r>
            <a:r>
              <a:rPr/>
              <a:t>) and donut charts for the </a:t>
            </a:r>
            <a:r>
              <a:rPr b="1"/>
              <a:t>final</a:t>
            </a:r>
            <a:r>
              <a:rPr/>
              <a:t> formation month. Optional: </a:t>
            </a:r>
            <a:r>
              <a:rPr>
                <a:latin typeface="Courier"/>
              </a:rPr>
              <a:t>analyse_all_portfolios_at_once=True</a:t>
            </a:r>
            <a:r>
              <a:rPr/>
              <a:t> unions all </a:t>
            </a:r>
            <a:r>
              <a:rPr>
                <a:latin typeface="Courier"/>
              </a:rPr>
              <a:t>p_1</a:t>
            </a:r>
            <a:r>
              <a:rPr/>
              <a:t>…</a:t>
            </a:r>
            <a:r>
              <a:rPr>
                <a:latin typeface="Courier"/>
              </a:rPr>
              <a:t>p_k</a:t>
            </a:r>
            <a:r>
              <a:rPr/>
              <a:t>; </a:t>
            </a:r>
            <a:r>
              <a:rPr>
                <a:latin typeface="Courier"/>
              </a:rPr>
              <a:t>all_sub_portfolios=True</a:t>
            </a:r>
            <a:r>
              <a:rPr/>
              <a:t> plots one subplot per quantile.</a:t>
            </a:r>
          </a:p>
          <a:p>
            <a:pPr lvl="0" indent="0" marL="0">
              <a:buNone/>
            </a:pPr>
            <a:r>
              <a:rPr/>
              <a:t>The following only inspects the high transformation</a:t>
            </a:r>
          </a:p>
        </p:txBody>
      </p:sp>
      <p:pic>
        <p:nvPicPr>
          <p:cNvPr descr="Main_files/figure-pptx/cell-33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30300"/>
            <a:ext cx="5105400" cy="252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3-output-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55700" y="1193800"/>
            <a:ext cx="6832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3-output-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68600" y="1193800"/>
            <a:ext cx="3619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3-output-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33700" y="1193800"/>
            <a:ext cx="3289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3-output-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33700" y="1193800"/>
            <a:ext cx="3289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3-output-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36700"/>
            <a:ext cx="8229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3-output-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36700"/>
            <a:ext cx="8229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Dependencies</dc:title>
  <dc:creator/>
  <cp:keywords/>
  <dcterms:created xsi:type="dcterms:W3CDTF">2026-05-08T13:17:42Z</dcterms:created>
  <dcterms:modified xsi:type="dcterms:W3CDTF">2026-05-08T13:17:42Z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ngines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