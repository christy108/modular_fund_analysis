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1" autoAdjust="0"/>
    <p:restoredTop sz="94702" autoAdjust="0"/>
  </p:normalViewPr>
  <p:slideViewPr>
    <p:cSldViewPr snapToGrid="0" snapToObjects="1">
      <p:cViewPr varScale="1">
        <p:scale>
          <a:sx n="199" d="100"/>
          <a:sy n="199" d="100"/>
        </p:scale>
        <p:origin x="168" y="2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8E5CF-2A5B-C44A-88AB-FE502A63B1BA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6B4E6-1855-3F4B-9A09-6B340CDBD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76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6B4E6-1855-3F4B-9A09-6B340CDBDB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3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1. Dependencies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Filters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 Run parameters ===
region_analysis              = 'Japan'
esg_choice                   = 'refinitiv'
no_simple_quantiles          = 4
add_accounting_data          = True
show_sector_portfolio        = False
start_year                   = 2013
end_year                     = 2022
top_x_by_industry_even_split = 6
use_alpha_bound              = True
alpha_bound                  = 0.1
mktcap_covered               = 0.95
drop_real_estate             = True
fama_factor_region           = 'Japan'
currency_filter              = ['JPY']
convert_to_USD               = False
======================
</a:t>
            </a:r>
          </a:p>
          <a:p>
            <a:pPr marL="0" lvl="0" indent="0">
              <a:buNone/>
            </a:pPr>
            <a:r>
              <a:t>Signal Design</a:t>
            </a:r>
          </a:p>
          <a:p>
            <a:pPr marL="0" lvl="0" indent="0">
              <a:buNone/>
            </a:pPr>
            <a:r>
              <a:t>Signal Choice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2. Data</a:t>
            </a:r>
          </a:p>
          <a:p>
            <a:pPr marL="0" lvl="0" indent="0">
              <a:buNone/>
            </a:pPr>
            <a:r>
              <a:t>Golden Data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2.1 LC dataset</a:t>
            </a:r>
          </a:p>
          <a:p>
            <a:pPr marL="0" lvl="0" indent="0">
              <a:buNone/>
            </a:pPr>
            <a:r>
              <a:t>clean below</a:t>
            </a:r>
          </a:p>
          <a:p>
            <a:pPr lvl="0" indent="0">
              <a:buNone/>
            </a:pPr>
            <a:r>
              <a:rPr>
                <a:latin typeface="Courier"/>
              </a:rPr>
              <a:t>count    19332.000000
mean        28.361318
std         30.302632
min          0.000000
25%          9.000000
50%         19.000000
75%         36.000000
max        465.000000
Name: sum_activities, dtype: float64</a:t>
            </a:r>
          </a:p>
          <a:p>
            <a:pPr lvl="0" indent="0">
              <a:buNone/>
            </a:pPr>
            <a:r>
              <a:rPr>
                <a:latin typeface="Courier"/>
              </a:rPr>
              <a:t>count    17035.000000
mean        24.953566
std         18.769500
min          4.000000
25%         11.000000
50%         19.000000
75%         34.000000
max        129.000000
Name: sum_activities, dtype: float64</a:t>
            </a:r>
          </a:p>
          <a:p>
            <a:pPr marL="0" lvl="0" indent="0">
              <a:buNone/>
            </a:pPr>
            <a:r>
              <a:t>Create the signal</a:t>
            </a:r>
          </a:p>
          <a:p>
            <a:pPr marL="0" lvl="0" indent="0">
              <a:buNone/>
            </a:pPr>
            <a:r>
              <a:t>Num stocks in USA and EU prior to some more filters</a:t>
            </a:r>
          </a:p>
          <a:p>
            <a:pPr lvl="0" indent="0">
              <a:buNone/>
            </a:pPr>
            <a:r>
              <a:rPr>
                <a:latin typeface="Courier"/>
              </a:rPr>
              <a:t>0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2.2 WRDS, Fama-French and FX data</a:t>
            </a:r>
          </a:p>
          <a:p>
            <a:pPr marL="0" lvl="0" indent="0">
              <a:buNone/>
            </a:pPr>
            <a:r>
              <a:t>Get and Process: 1- FX data</a:t>
            </a:r>
          </a:p>
          <a:p>
            <a:pPr marL="0" lvl="0" indent="0">
              <a:buNone/>
            </a:pPr>
            <a:r>
              <a:t>2- USA Universe</a:t>
            </a:r>
          </a:p>
          <a:p>
            <a:pPr marL="0" lvl="0" indent="0">
              <a:buNone/>
            </a:pPr>
            <a:r>
              <a:t>3- ROW Universe</a:t>
            </a:r>
          </a:p>
          <a:p>
            <a:pPr marL="0" lvl="0" indent="0">
              <a:buNone/>
            </a:pPr>
            <a:r>
              <a:t>4 - Japan</a:t>
            </a:r>
          </a:p>
          <a:p>
            <a:pPr marL="0" lvl="0" indent="0">
              <a:buNone/>
            </a:pPr>
            <a:r>
              <a:t>5 - ESG</a:t>
            </a:r>
          </a:p>
          <a:p>
            <a:pPr marL="0" lvl="0" indent="0">
              <a:buNone/>
            </a:pPr>
            <a:r>
              <a:t>4- Fama-French</a:t>
            </a:r>
          </a:p>
          <a:p>
            <a:pPr marL="0" lvl="0" indent="0">
              <a:buNone/>
            </a:pPr>
            <a:r>
              <a:t>5- Global Universe</a:t>
            </a:r>
          </a:p>
          <a:p>
            <a:pPr marL="0" lvl="0" indent="0">
              <a:buNone/>
            </a:pPr>
            <a:r>
              <a:t>6- Accounting Data</a:t>
            </a:r>
          </a:p>
          <a:p>
            <a:pPr lvl="0" indent="0">
              <a:buNone/>
            </a:pPr>
            <a:r>
              <a:rPr>
                <a:latin typeface="Courier"/>
              </a:rPr>
              <a:t>columns with year
['year_x', 'year_y', 'year']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3. Univariate Portfolio sorting</a:t>
            </a:r>
          </a:p>
          <a:p>
            <a:pPr marL="0" lvl="0" indent="0">
              <a:buNone/>
            </a:pPr>
            <a:r>
              <a:t>% Nan in accounting data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3.1 Univariate sorting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 Sector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Add Market Portfolios</a:t>
            </a:r>
          </a:p>
          <a:p>
            <a:pPr marL="0" lvl="0" indent="0">
              <a:buNone/>
            </a:pPr>
            <a:r>
              <a:t>Transform in excess returns using the risk free rate</a:t>
            </a:r>
          </a:p>
          <a:p>
            <a:pPr marL="0" lvl="0" indent="0">
              <a:buNone/>
            </a:pPr>
            <a:r>
              <a:t>Make sure the first row is 0, so they all start at the same 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 Fama-French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esg_refinitive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esg_refinitive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beta_mkt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beta_smb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beta_hml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p-value(alpha)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6. Performance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Cumulative Returns Plot</a:t>
            </a:r>
          </a:p>
        </p:txBody>
      </p:sp>
      <p:pic>
        <p:nvPicPr>
          <p:cNvPr id="3" name="Picture 1" descr="Main_files/figure-pptx/cell-31-output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45986" y="1246909"/>
            <a:ext cx="8764618" cy="319205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1-output-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25600" y="1193800"/>
            <a:ext cx="5880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Since launch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-3.82%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14.76%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77.25%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77.25%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-15.93%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-15.93%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-4.69%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-5.15%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31.03%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31.03%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esg_refinitive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-5.10%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21.02%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85.80%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85.80%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-3.98%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60.36%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60.36%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-4.41%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23.43%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21.30%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103.34%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103.34%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Sharpe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VaR 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Max Drawdown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p-value(alpha)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-11.16%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-28.14%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-9.27%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-29.34%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esg_refinitive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-11.49%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-29.94%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-11.59%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-32.30%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-11.59%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-27.34%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1-output-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800" y="1193800"/>
            <a:ext cx="7772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1-output-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800" y="1193800"/>
            <a:ext cx="7772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7. Portfolio Constituents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Portfolio constituents — category mix (</a:t>
            </a:r>
            <a:r>
              <a:rPr b="1">
                <a:latin typeface="Courier"/>
              </a:rPr>
              <a:t>PortfolioConstituents</a:t>
            </a:r>
            <a:r>
              <a:rPr b="1"/>
              <a:t>)</a:t>
            </a:r>
          </a:p>
          <a:p>
            <a:pPr marL="0" lvl="0" indent="0">
              <a:buNone/>
            </a:pPr>
            <a:r>
              <a:t>Uses </a:t>
            </a:r>
            <a:r>
              <a:rPr>
                <a:latin typeface="Courier"/>
              </a:rPr>
              <a:t>signal_2_simple_quantiles_constituents</a:t>
            </a:r>
            <a:r>
              <a:t> and </a:t>
            </a:r>
            <a:r>
              <a:rPr>
                <a:latin typeface="Courier"/>
              </a:rPr>
              <a:t>global_universe</a:t>
            </a:r>
            <a:r>
              <a:t> to inspect </a:t>
            </a:r>
            <a:r>
              <a:rPr b="1"/>
              <a:t>Industry</a:t>
            </a:r>
            <a:r>
              <a:t>, </a:t>
            </a:r>
            <a:r>
              <a:rPr b="1">
                <a:latin typeface="Courier"/>
              </a:rPr>
              <a:t>loc</a:t>
            </a:r>
            <a:r>
              <a:t>, and </a:t>
            </a:r>
            <a:r>
              <a:rPr b="1"/>
              <a:t>MacroRegion</a:t>
            </a:r>
            <a:r>
              <a:t>: line charts of stock counts over time (default = last quantile </a:t>
            </a:r>
            <a:r>
              <a:rPr>
                <a:latin typeface="Courier"/>
              </a:rPr>
              <a:t>p_k</a:t>
            </a:r>
            <a:r>
              <a:t>, same as </a:t>
            </a:r>
            <a:r>
              <a:rPr>
                <a:latin typeface="Courier"/>
              </a:rPr>
              <a:t>constituents[i][-1]</a:t>
            </a:r>
            <a:r>
              <a:t>) and donut charts for the </a:t>
            </a:r>
            <a:r>
              <a:rPr b="1"/>
              <a:t>final</a:t>
            </a:r>
            <a:r>
              <a:t> formation month. Optional: </a:t>
            </a:r>
            <a:r>
              <a:rPr>
                <a:latin typeface="Courier"/>
              </a:rPr>
              <a:t>analyse_all_portfolios_at_once=True</a:t>
            </a:r>
            <a:r>
              <a:t> unions all </a:t>
            </a:r>
            <a:r>
              <a:rPr>
                <a:latin typeface="Courier"/>
              </a:rPr>
              <a:t>p_1</a:t>
            </a:r>
            <a:r>
              <a:t>…</a:t>
            </a:r>
            <a:r>
              <a:rPr>
                <a:latin typeface="Courier"/>
              </a:rPr>
              <a:t>p_k</a:t>
            </a:r>
            <a:r>
              <a:t>; </a:t>
            </a:r>
            <a:r>
              <a:rPr>
                <a:latin typeface="Courier"/>
              </a:rPr>
              <a:t>all_sub_portfolios=True</a:t>
            </a:r>
            <a:r>
              <a:t> plots one subplot per quantile.</a:t>
            </a:r>
          </a:p>
          <a:p>
            <a:pPr marL="0" lvl="0" indent="0">
              <a:buNone/>
            </a:pPr>
            <a:r>
              <a:t>The following only inspects the high transformation</a:t>
            </a:r>
          </a:p>
        </p:txBody>
      </p:sp>
      <p:pic>
        <p:nvPicPr>
          <p:cNvPr id="3" name="Picture 1" descr="Main_files/figure-pptx/cell-32-output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30300"/>
            <a:ext cx="51054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5700" y="1193800"/>
            <a:ext cx="683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32100" y="1193800"/>
            <a:ext cx="3479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7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</Words>
  <Application>Microsoft Macintosh PowerPoint</Application>
  <PresentationFormat>On-screen Show (16:9)</PresentationFormat>
  <Paragraphs>185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Courier</vt:lpstr>
      <vt:lpstr>Office Theme</vt:lpstr>
      <vt:lpstr>1. Dependencies</vt:lpstr>
      <vt:lpstr>PowerPoint Presentation</vt:lpstr>
      <vt:lpstr>1. Parameters</vt:lpstr>
      <vt:lpstr>4. Sector Split</vt:lpstr>
      <vt:lpstr>5. Fama-French</vt:lpstr>
      <vt:lpstr>6. Performance Metrics</vt:lpstr>
      <vt:lpstr>Cumulative Returns Plot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7. Portfolio Constituents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Dependencies</dc:title>
  <dc:creator/>
  <cp:keywords/>
  <cp:lastModifiedBy>Bruce, Christopher</cp:lastModifiedBy>
  <cp:revision>1</cp:revision>
  <dcterms:created xsi:type="dcterms:W3CDTF">2026-05-08T12:26:43Z</dcterms:created>
  <dcterms:modified xsi:type="dcterms:W3CDTF">2026-05-11T08:41:53Z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