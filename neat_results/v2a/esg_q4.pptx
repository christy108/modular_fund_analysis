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 Dependencies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Filters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 Run parameters ===
region_analysis              = 'Japan'
esg_choice                   = 'refinitiv'
no_simple_quantiles          = 4
add_accounting_data          = True
show_sector_portfolio        = False
start_year                   = 2013
end_year                     = 2022
top_x_by_industry_even_split = 6
use_alpha_bound              = True
alpha_bound                  = 0.1
mktcap_covered               = 0.95
drop_real_estate             = True
fama_factor_region           = 'Japan'
currency_filter              = ['JPY']
convert_to_USD               = False
======================
</a:t>
            </a:r>
          </a:p>
          <a:p>
            <a:pPr lvl="0" indent="0" marL="0">
              <a:buNone/>
            </a:pPr>
            <a:r>
              <a:rPr/>
              <a:t>Signal Design</a:t>
            </a:r>
          </a:p>
          <a:p>
            <a:pPr lvl="0" indent="0" marL="0">
              <a:buNone/>
            </a:pPr>
            <a:r>
              <a:rPr/>
              <a:t>Signal Choice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Data</a:t>
            </a:r>
          </a:p>
          <a:p>
            <a:pPr lvl="0" indent="0" marL="0">
              <a:buNone/>
            </a:pPr>
            <a:r>
              <a:rPr/>
              <a:t>Golden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2.1 LC dataset</a:t>
            </a:r>
          </a:p>
          <a:p>
            <a:pPr lvl="0" indent="0" marL="0">
              <a:buNone/>
            </a:pPr>
            <a:r>
              <a:rPr/>
              <a:t>clean below</a:t>
            </a:r>
          </a:p>
          <a:p>
            <a:pPr lvl="0" indent="0">
              <a:buNone/>
            </a:pPr>
            <a:r>
              <a:rPr>
                <a:latin typeface="Courier"/>
              </a:rPr>
              <a:t>count    19332.000000
mean        28.361318
std         30.302632
min          0.000000
25%          9.000000
50%         19.000000
75%         36.000000
max        465.000000
Name: sum_activities, dtype: float64</a:t>
            </a:r>
          </a:p>
          <a:p>
            <a:pPr lvl="0" indent="0">
              <a:buNone/>
            </a:pPr>
            <a:r>
              <a:rPr>
                <a:latin typeface="Courier"/>
              </a:rPr>
              <a:t>count    17035.000000
mean        24.953566
std         18.769500
min          4.000000
25%         11.000000
50%         19.000000
75%         34.000000
max        129.000000
Name: sum_activities, dtype: float64</a:t>
            </a:r>
          </a:p>
          <a:p>
            <a:pPr lvl="0" indent="0" marL="0">
              <a:buNone/>
            </a:pPr>
            <a:r>
              <a:rPr/>
              <a:t>Create the signal</a:t>
            </a:r>
          </a:p>
          <a:p>
            <a:pPr lvl="0" indent="0" marL="0">
              <a:buNone/>
            </a:pPr>
            <a:r>
              <a:rPr/>
              <a:t>Num stocks in USA and EU prior to some more filters</a:t>
            </a:r>
          </a:p>
          <a:p>
            <a:pPr lvl="0" indent="0">
              <a:buNone/>
            </a:pPr>
            <a:r>
              <a:rPr>
                <a:latin typeface="Courier"/>
              </a:rPr>
              <a:t>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2.2 WRDS, Fama-French and FX data</a:t>
            </a:r>
          </a:p>
          <a:p>
            <a:pPr lvl="0" indent="0" marL="0">
              <a:buNone/>
            </a:pPr>
            <a:r>
              <a:rPr/>
              <a:t>Get and Process: 1- FX data</a:t>
            </a:r>
          </a:p>
          <a:p>
            <a:pPr lvl="0" indent="0" marL="0">
              <a:buNone/>
            </a:pPr>
            <a:r>
              <a:rPr/>
              <a:t>2- USA Universe</a:t>
            </a:r>
          </a:p>
          <a:p>
            <a:pPr lvl="0" indent="0" marL="0">
              <a:buNone/>
            </a:pPr>
            <a:r>
              <a:rPr/>
              <a:t>3- ROW Universe</a:t>
            </a:r>
          </a:p>
          <a:p>
            <a:pPr lvl="0" indent="0" marL="0">
              <a:buNone/>
            </a:pPr>
            <a:r>
              <a:rPr/>
              <a:t>4 - Japan</a:t>
            </a:r>
          </a:p>
          <a:p>
            <a:pPr lvl="0" indent="0" marL="0">
              <a:buNone/>
            </a:pPr>
            <a:r>
              <a:rPr/>
              <a:t>5 - ESG</a:t>
            </a:r>
          </a:p>
          <a:p>
            <a:pPr lvl="0" indent="0" marL="0">
              <a:buNone/>
            </a:pPr>
            <a:r>
              <a:rPr/>
              <a:t>4- Fama-French</a:t>
            </a:r>
          </a:p>
          <a:p>
            <a:pPr lvl="0" indent="0" marL="0">
              <a:buNone/>
            </a:pPr>
            <a:r>
              <a:rPr/>
              <a:t>5- Global Universe</a:t>
            </a:r>
          </a:p>
          <a:p>
            <a:pPr lvl="0" indent="0" marL="0">
              <a:buNone/>
            </a:pPr>
            <a:r>
              <a:rPr/>
              <a:t>6- Accounting Data</a:t>
            </a:r>
          </a:p>
          <a:p>
            <a:pPr lvl="0" indent="0">
              <a:buNone/>
            </a:pPr>
            <a:r>
              <a:rPr>
                <a:latin typeface="Courier"/>
              </a:rPr>
              <a:t>columns with year
['year_x', 'year_y', 'year']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 Univariate Portfolio sorting</a:t>
            </a:r>
          </a:p>
          <a:p>
            <a:pPr lvl="0" indent="0" marL="0">
              <a:buNone/>
            </a:pPr>
            <a:r>
              <a:rPr/>
              <a:t>% Nan in accounting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3.1 Univariate sorting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Sector Split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Market Portfolios</a:t>
            </a:r>
          </a:p>
          <a:p>
            <a:pPr lvl="0" indent="0" marL="0">
              <a:buNone/>
            </a:pPr>
            <a:r>
              <a:rPr/>
              <a:t>Transform in excess returns using the risk free rate</a:t>
            </a:r>
          </a:p>
          <a:p>
            <a:pPr lvl="0" indent="0" marL="0">
              <a:buNone/>
            </a:pPr>
            <a:r>
              <a:rPr/>
              <a:t>Make sure the first row is 0, so they all start at the same date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Fama-French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812800"/>
                <a:gridCol w="812800"/>
                <a:gridCol w="812800"/>
                <a:gridCol w="812800"/>
                <a:gridCol w="812800"/>
                <a:gridCol w="812800"/>
                <a:gridCol w="812800"/>
                <a:gridCol w="812800"/>
                <a:gridCol w="812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advocacy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 advocacy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transformation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 transformation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esg_refinitive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 esg_refinitive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alpha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beta_mkt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beta_smb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-0.18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-0.04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-0.07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-0.15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-0.06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-0.08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-0.26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-0.12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beta_hml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p-value(alpha)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Performance Metrics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Cumulative Returns Plot</a:t>
            </a:r>
          </a:p>
        </p:txBody>
      </p:sp>
      <p:pic>
        <p:nvPicPr>
          <p:cNvPr descr="Main_files/figure-pptx/cell-31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ain_files/figure-pptx/cell-31-output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5880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1yr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3yr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5yr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10yr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Since launch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-3.82%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14.76%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5.98%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77.25%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77.25%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0.17%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12.54%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-15.93%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-15.93%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-4.69%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-5.15%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31.03%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31.03%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 esg_refinitive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-5.10%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2.69%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2.55%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2.55%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21.02%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12.11%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85.80%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85.80%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 transformation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-3.98%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0.12%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0.12%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12.01%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-0.12%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60.36%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60.36%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 preparation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-4.41%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3.35%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2.33%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2.33%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23.43%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21.30%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103.34%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103.34%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 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Max Drawdown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Alpha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p-value(alpha)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-11.16%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-28.14%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-9.27%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-29.34%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 esg_refinitive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-11.49%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-29.94%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 transformation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-11.59%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-32.30%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 preparation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-11.59%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-27.34%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0.140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ain_files/figure-pptx/cell-31-output-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193800"/>
            <a:ext cx="777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ain_files/figure-pptx/cell-31-output-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193800"/>
            <a:ext cx="777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 Portfolio Constituents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Portfolio constituents — category mix (</a:t>
            </a:r>
            <a:r>
              <a:rPr b="1">
                <a:latin typeface="Courier"/>
              </a:rPr>
              <a:t>PortfolioConstituents</a:t>
            </a:r>
            <a:r>
              <a:rPr b="1"/>
              <a:t>)</a:t>
            </a:r>
          </a:p>
          <a:p>
            <a:pPr lvl="0" indent="0" marL="0">
              <a:buNone/>
            </a:pPr>
            <a:r>
              <a:rPr/>
              <a:t>Uses </a:t>
            </a:r>
            <a:r>
              <a:rPr>
                <a:latin typeface="Courier"/>
              </a:rPr>
              <a:t>signal_2_simple_quantiles_constituents</a:t>
            </a:r>
            <a:r>
              <a:rPr/>
              <a:t> and </a:t>
            </a:r>
            <a:r>
              <a:rPr>
                <a:latin typeface="Courier"/>
              </a:rPr>
              <a:t>global_universe</a:t>
            </a:r>
            <a:r>
              <a:rPr/>
              <a:t> to inspect </a:t>
            </a:r>
            <a:r>
              <a:rPr b="1"/>
              <a:t>Industry</a:t>
            </a:r>
            <a:r>
              <a:rPr/>
              <a:t>, </a:t>
            </a:r>
            <a:r>
              <a:rPr b="1">
                <a:latin typeface="Courier"/>
              </a:rPr>
              <a:t>loc</a:t>
            </a:r>
            <a:r>
              <a:rPr/>
              <a:t>, and </a:t>
            </a:r>
            <a:r>
              <a:rPr b="1"/>
              <a:t>MacroRegion</a:t>
            </a:r>
            <a:r>
              <a:rPr/>
              <a:t>: line charts of stock counts over time (default = last quantile </a:t>
            </a:r>
            <a:r>
              <a:rPr>
                <a:latin typeface="Courier"/>
              </a:rPr>
              <a:t>p_k</a:t>
            </a:r>
            <a:r>
              <a:rPr/>
              <a:t>, same as </a:t>
            </a:r>
            <a:r>
              <a:rPr>
                <a:latin typeface="Courier"/>
              </a:rPr>
              <a:t>constituents[i][-1]</a:t>
            </a:r>
            <a:r>
              <a:rPr/>
              <a:t>) and donut charts for the </a:t>
            </a:r>
            <a:r>
              <a:rPr b="1"/>
              <a:t>final</a:t>
            </a:r>
            <a:r>
              <a:rPr/>
              <a:t> formation month. Optional: </a:t>
            </a:r>
            <a:r>
              <a:rPr>
                <a:latin typeface="Courier"/>
              </a:rPr>
              <a:t>analyse_all_portfolios_at_once=True</a:t>
            </a:r>
            <a:r>
              <a:rPr/>
              <a:t> unions all </a:t>
            </a:r>
            <a:r>
              <a:rPr>
                <a:latin typeface="Courier"/>
              </a:rPr>
              <a:t>p_1</a:t>
            </a:r>
            <a:r>
              <a:rPr/>
              <a:t>…</a:t>
            </a:r>
            <a:r>
              <a:rPr>
                <a:latin typeface="Courier"/>
              </a:rPr>
              <a:t>p_k</a:t>
            </a:r>
            <a:r>
              <a:rPr/>
              <a:t>; </a:t>
            </a:r>
            <a:r>
              <a:rPr>
                <a:latin typeface="Courier"/>
              </a:rPr>
              <a:t>all_sub_portfolios=True</a:t>
            </a:r>
            <a:r>
              <a:rPr/>
              <a:t> plots one subplot per quantile.</a:t>
            </a:r>
          </a:p>
          <a:p>
            <a:pPr lvl="0" indent="0" marL="0">
              <a:buNone/>
            </a:pPr>
            <a:r>
              <a:rPr/>
              <a:t>The following only inspects the high transformation</a:t>
            </a:r>
          </a:p>
        </p:txBody>
      </p:sp>
      <p:pic>
        <p:nvPicPr>
          <p:cNvPr descr="Main_files/figure-pptx/cell-32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30300"/>
            <a:ext cx="51054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ain_files/figure-pptx/cell-32-output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93800"/>
            <a:ext cx="6832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ain_files/figure-pptx/cell-32-output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32100" y="1193800"/>
            <a:ext cx="3479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ain_files/figure-pptx/cell-32-output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33700" y="1193800"/>
            <a:ext cx="328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ain_files/figure-pptx/cell-32-output-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33700" y="1193800"/>
            <a:ext cx="328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ain_files/figure-pptx/cell-32-output-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36700"/>
            <a:ext cx="8229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ain_files/figure-pptx/cell-32-output-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36700"/>
            <a:ext cx="8229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 Dependencies</dc:title>
  <dc:creator/>
  <cp:keywords/>
  <dcterms:created xsi:type="dcterms:W3CDTF">2026-05-08T12:26:43Z</dcterms:created>
  <dcterms:modified xsi:type="dcterms:W3CDTF">2026-05-08T12:26:43Z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